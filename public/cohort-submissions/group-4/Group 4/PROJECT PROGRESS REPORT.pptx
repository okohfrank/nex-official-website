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7" r:id="rId6"/>
    <p:sldId id="266" r:id="rId7"/>
    <p:sldId id="268" r:id="rId8"/>
    <p:sldId id="269" r:id="rId9"/>
    <p:sldId id="270"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DC4C-0E16-C835-8607-A136096BCD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F0C717-AC78-9B3D-5E17-C6E0EA981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434C59-1FCB-DDD9-8216-178776A77CC0}"/>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8CA2BE96-9AAD-80F8-FB51-314E28FDFC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BE149-A6D4-0C80-7103-6F4AA1C334CC}"/>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2395258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F9B5-40ED-1333-3020-127EC0F508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D85196-7793-CC3C-29C8-334979BC35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690377-7582-97FF-3B77-6CBBC6334E31}"/>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B0F38566-6920-7A9C-9D00-BA4D3AB62C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6A92D-66BA-8027-523D-761002ADD664}"/>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1586397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29315-805F-9AC8-507C-8FFB435EBC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54C37F-5182-CDA9-4DBB-7E67A5FAB1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0A8ABD-9049-0076-2B53-682731B76910}"/>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05960881-9AE5-0A85-EB86-2E010D784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E587B-105E-724C-B174-0376ED268041}"/>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119904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86024-4DF4-DA0F-5600-A48161DF46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F30C8D-5D04-BBE6-543A-9C8BE35A53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5666AA-D881-6799-5E67-26B6442D6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51E91-8B5B-6FFA-6E9D-45A3FC9CC573}"/>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6" name="Footer Placeholder 5">
            <a:extLst>
              <a:ext uri="{FF2B5EF4-FFF2-40B4-BE49-F238E27FC236}">
                <a16:creationId xmlns:a16="http://schemas.microsoft.com/office/drawing/2014/main" id="{6743FFAB-20FF-6C2D-19CC-6CC5436772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C7EBFF-64E0-1A90-6A1D-E7BB2D1D856D}"/>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2255041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28D9B-148D-13C8-C2CE-3CB943E8E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04C607-5123-B8A1-8847-E0D47B3F4B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1C43FB-ACB7-6DD7-396C-B93E615294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339DDD-5052-662C-75DE-96C33BBE7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BAF74D-1037-9182-2891-7572F8B75F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7A2716-E585-B5E7-9EEE-52CE27BF32A7}"/>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8" name="Footer Placeholder 7">
            <a:extLst>
              <a:ext uri="{FF2B5EF4-FFF2-40B4-BE49-F238E27FC236}">
                <a16:creationId xmlns:a16="http://schemas.microsoft.com/office/drawing/2014/main" id="{322B202E-58FB-96AB-D582-E254CC960D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783A45-51C4-C95D-CE90-52C6346A751D}"/>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942603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056B-5169-451C-43F7-93BFD9EE3B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605A14-48A0-D862-30C4-77A7E746BC4D}"/>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4" name="Footer Placeholder 3">
            <a:extLst>
              <a:ext uri="{FF2B5EF4-FFF2-40B4-BE49-F238E27FC236}">
                <a16:creationId xmlns:a16="http://schemas.microsoft.com/office/drawing/2014/main" id="{892E7BCE-2FB1-1F30-3223-0B1B791B43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0FE10F-C16D-C5EA-68D3-05060D7C65BB}"/>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129069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38C7FB-4B55-318C-583D-2C89A4AD55EC}"/>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3" name="Footer Placeholder 2">
            <a:extLst>
              <a:ext uri="{FF2B5EF4-FFF2-40B4-BE49-F238E27FC236}">
                <a16:creationId xmlns:a16="http://schemas.microsoft.com/office/drawing/2014/main" id="{50054744-E5FA-58FA-EA76-3686A3063F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AC512-BB23-C566-6B44-F6BBFE5E993F}"/>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155047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CF638-5110-562B-D5AB-C7A71CF73D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603DE7-5CE4-88C8-DECF-BC84BC3C88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B46D49-3BAB-AC9D-572E-8D6A548F02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716813-6037-B406-0993-96E085D47DB0}"/>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6" name="Footer Placeholder 5">
            <a:extLst>
              <a:ext uri="{FF2B5EF4-FFF2-40B4-BE49-F238E27FC236}">
                <a16:creationId xmlns:a16="http://schemas.microsoft.com/office/drawing/2014/main" id="{A94ABFA1-67CE-EE6E-99D2-E36B31665F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6B328-A6AC-C08D-ADCD-DB78782DFFEF}"/>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325659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0DB2-C866-CD32-C250-676D1CD32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752C2-3048-F9C7-F369-C88173C65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02B802-87AD-EEE9-638A-E130B7BB0F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26895E-C0C9-9019-516F-F851CCA4C4AA}"/>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6" name="Footer Placeholder 5">
            <a:extLst>
              <a:ext uri="{FF2B5EF4-FFF2-40B4-BE49-F238E27FC236}">
                <a16:creationId xmlns:a16="http://schemas.microsoft.com/office/drawing/2014/main" id="{F8700F3A-9F4B-6E04-C43A-33359EB54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D928F-A029-B240-45A1-663AB73354F2}"/>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3712641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3B11F-44F6-64D2-2CC0-F8A233AECF7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494E98-321B-3417-C9A4-0F2B789149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91B2E-9F64-4B8E-53E4-91F96EFC6109}"/>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8EA2078F-5868-EA96-F2EC-E0A360B93D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B0AB4-CEF1-44FA-78DC-33116AEAB153}"/>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417281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F1FCC9-29F1-5E29-EE50-04D104935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6D9EEA-847A-4935-C97B-AC686DF618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FFB9C-407F-F1D3-F1BF-502EC1894F6E}"/>
              </a:ext>
            </a:extLst>
          </p:cNvPr>
          <p:cNvSpPr>
            <a:spLocks noGrp="1"/>
          </p:cNvSpPr>
          <p:nvPr>
            <p:ph type="dt" sz="half" idx="10"/>
          </p:nvPr>
        </p:nvSpPr>
        <p:spPr/>
        <p:txBody>
          <a:body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E25E33C4-9093-D74B-E39B-48294A0E2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4F9DB-2BBA-C774-833C-9E1FD70270DD}"/>
              </a:ext>
            </a:extLst>
          </p:cNvPr>
          <p:cNvSpPr>
            <a:spLocks noGrp="1"/>
          </p:cNvSpPr>
          <p:nvPr>
            <p:ph type="sldNum" sz="quarter" idx="12"/>
          </p:nvPr>
        </p:nvSpPr>
        <p:spPr/>
        <p:txBody>
          <a:bodyPr/>
          <a:lstStyle/>
          <a:p>
            <a:fld id="{9DC78D4C-1D60-4701-ACE5-5337DEB89EA4}" type="slidenum">
              <a:rPr lang="en-US" smtClean="0"/>
              <a:t>‹#›</a:t>
            </a:fld>
            <a:endParaRPr lang="en-US"/>
          </a:p>
        </p:txBody>
      </p:sp>
    </p:spTree>
    <p:extLst>
      <p:ext uri="{BB962C8B-B14F-4D97-AF65-F5344CB8AC3E}">
        <p14:creationId xmlns:p14="http://schemas.microsoft.com/office/powerpoint/2010/main" val="2300193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7FD38-0807-6A74-7ECD-E0B7C98228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A9540F-B2EB-37F2-97E6-518B39CF30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58AA1-62ED-759E-DD6E-2A555E70F9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6C7CA5-BF59-4633-B1A6-A366B710EF49}" type="datetimeFigureOut">
              <a:rPr lang="en-US" smtClean="0"/>
              <a:t>10/10/2026</a:t>
            </a:fld>
            <a:endParaRPr lang="en-US"/>
          </a:p>
        </p:txBody>
      </p:sp>
      <p:sp>
        <p:nvSpPr>
          <p:cNvPr id="5" name="Footer Placeholder 4">
            <a:extLst>
              <a:ext uri="{FF2B5EF4-FFF2-40B4-BE49-F238E27FC236}">
                <a16:creationId xmlns:a16="http://schemas.microsoft.com/office/drawing/2014/main" id="{5C082BE5-EC1D-E325-F03B-EBCCDC0883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A10827C-82AA-AEF7-2717-465DC4D553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78D4C-1D60-4701-ACE5-5337DEB89EA4}" type="slidenum">
              <a:rPr lang="en-US" smtClean="0"/>
              <a:t>‹#›</a:t>
            </a:fld>
            <a:endParaRPr lang="en-US"/>
          </a:p>
        </p:txBody>
      </p:sp>
    </p:spTree>
    <p:extLst>
      <p:ext uri="{BB962C8B-B14F-4D97-AF65-F5344CB8AC3E}">
        <p14:creationId xmlns:p14="http://schemas.microsoft.com/office/powerpoint/2010/main" val="31769437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6B6005-F6AB-5475-302E-D780241FCBA8}"/>
              </a:ext>
            </a:extLst>
          </p:cNvPr>
          <p:cNvSpPr/>
          <p:nvPr/>
        </p:nvSpPr>
        <p:spPr>
          <a:xfrm>
            <a:off x="553791" y="926251"/>
            <a:ext cx="10290219" cy="46059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81D6B60-F369-E557-7CB5-80849B71759D}"/>
              </a:ext>
            </a:extLst>
          </p:cNvPr>
          <p:cNvSpPr>
            <a:spLocks noGrp="1"/>
          </p:cNvSpPr>
          <p:nvPr>
            <p:ph type="subTitle" idx="1"/>
          </p:nvPr>
        </p:nvSpPr>
        <p:spPr>
          <a:xfrm>
            <a:off x="729802" y="3628756"/>
            <a:ext cx="9938198" cy="2283607"/>
          </a:xfrm>
        </p:spPr>
        <p:txBody>
          <a:bodyPr>
            <a:noAutofit/>
          </a:bodyPr>
          <a:lstStyle/>
          <a:p>
            <a:r>
              <a:rPr lang="en-US" sz="2800" b="1" dirty="0">
                <a:solidFill>
                  <a:schemeClr val="bg1"/>
                </a:solidFill>
                <a:latin typeface="Arial Black" panose="020B0A04020102020204" pitchFamily="34" charset="0"/>
              </a:rPr>
              <a:t>Proposed Project Title:</a:t>
            </a:r>
            <a:br>
              <a:rPr lang="en-US" sz="2800" dirty="0">
                <a:solidFill>
                  <a:schemeClr val="bg1"/>
                </a:solidFill>
                <a:latin typeface="Arial Black" panose="020B0A04020102020204" pitchFamily="34" charset="0"/>
              </a:rPr>
            </a:br>
            <a:br>
              <a:rPr lang="en-US" sz="2800" dirty="0">
                <a:solidFill>
                  <a:schemeClr val="bg1"/>
                </a:solidFill>
                <a:latin typeface="Arial Black" panose="020B0A04020102020204" pitchFamily="34" charset="0"/>
              </a:rPr>
            </a:br>
            <a:r>
              <a:rPr lang="en-US" sz="2800" b="1" dirty="0">
                <a:solidFill>
                  <a:schemeClr val="bg1"/>
                </a:solidFill>
                <a:latin typeface="Arial Black" panose="020B0A04020102020204" pitchFamily="34" charset="0"/>
              </a:rPr>
              <a:t>Smart Hybrid Solar–Micro-Hydropower Charging Station for Students</a:t>
            </a:r>
            <a:endParaRPr lang="en-US" sz="2800" dirty="0">
              <a:solidFill>
                <a:schemeClr val="bg1"/>
              </a:solidFill>
              <a:latin typeface="Arial Black" panose="020B0A04020102020204" pitchFamily="34" charset="0"/>
            </a:endParaRPr>
          </a:p>
        </p:txBody>
      </p:sp>
      <p:sp>
        <p:nvSpPr>
          <p:cNvPr id="2" name="Title 1">
            <a:extLst>
              <a:ext uri="{FF2B5EF4-FFF2-40B4-BE49-F238E27FC236}">
                <a16:creationId xmlns:a16="http://schemas.microsoft.com/office/drawing/2014/main" id="{079F9B12-6893-C734-0DBE-6A8C6C8AA9CA}"/>
              </a:ext>
            </a:extLst>
          </p:cNvPr>
          <p:cNvSpPr>
            <a:spLocks noGrp="1"/>
          </p:cNvSpPr>
          <p:nvPr>
            <p:ph type="ctrTitle"/>
          </p:nvPr>
        </p:nvSpPr>
        <p:spPr>
          <a:xfrm>
            <a:off x="1279302" y="1041400"/>
            <a:ext cx="9144000" cy="2387600"/>
          </a:xfrm>
        </p:spPr>
        <p:txBody>
          <a:bodyPr>
            <a:normAutofit/>
          </a:bodyPr>
          <a:lstStyle/>
          <a:p>
            <a:r>
              <a:rPr lang="en-US" sz="5400" dirty="0">
                <a:solidFill>
                  <a:schemeClr val="bg1"/>
                </a:solidFill>
              </a:rPr>
              <a:t>PROJECT PROGRESS REPORT</a:t>
            </a:r>
            <a:br>
              <a:rPr lang="en-US" sz="5400" dirty="0">
                <a:solidFill>
                  <a:schemeClr val="bg1"/>
                </a:solidFill>
              </a:rPr>
            </a:br>
            <a:r>
              <a:rPr lang="en-US" sz="5400" dirty="0">
                <a:solidFill>
                  <a:schemeClr val="bg1"/>
                </a:solidFill>
              </a:rPr>
              <a:t>NEX COHORT- GROUP 4</a:t>
            </a:r>
            <a:br>
              <a:rPr lang="en-US" sz="2000" dirty="0">
                <a:solidFill>
                  <a:schemeClr val="bg1"/>
                </a:solidFill>
              </a:rPr>
            </a:br>
            <a:br>
              <a:rPr lang="en-US" sz="2000" dirty="0"/>
            </a:br>
            <a:r>
              <a:rPr lang="en-US" sz="2000" dirty="0"/>
              <a:t> </a:t>
            </a:r>
          </a:p>
        </p:txBody>
      </p:sp>
    </p:spTree>
    <p:extLst>
      <p:ext uri="{BB962C8B-B14F-4D97-AF65-F5344CB8AC3E}">
        <p14:creationId xmlns:p14="http://schemas.microsoft.com/office/powerpoint/2010/main" val="327477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5B2EF9-ED93-B9CC-5FB8-8C3FFB5FAEF7}"/>
              </a:ext>
            </a:extLst>
          </p:cNvPr>
          <p:cNvSpPr/>
          <p:nvPr/>
        </p:nvSpPr>
        <p:spPr>
          <a:xfrm>
            <a:off x="450760" y="296212"/>
            <a:ext cx="10967433" cy="6561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00C696-78CE-EFE8-CDFC-6227D86542AB}"/>
              </a:ext>
            </a:extLst>
          </p:cNvPr>
          <p:cNvSpPr>
            <a:spLocks noGrp="1"/>
          </p:cNvSpPr>
          <p:nvPr>
            <p:ph idx="1"/>
          </p:nvPr>
        </p:nvSpPr>
        <p:spPr>
          <a:xfrm>
            <a:off x="450761" y="550572"/>
            <a:ext cx="10967434" cy="3364606"/>
          </a:xfrm>
        </p:spPr>
        <p:txBody>
          <a:bodyPr>
            <a:noAutofit/>
          </a:bodyPr>
          <a:lstStyle/>
          <a:p>
            <a:pPr marL="0" indent="0">
              <a:buNone/>
            </a:pPr>
            <a:r>
              <a:rPr lang="en-US" b="1" dirty="0">
                <a:solidFill>
                  <a:schemeClr val="bg1"/>
                </a:solidFill>
              </a:rPr>
              <a:t>INTRODUCTION</a:t>
            </a:r>
          </a:p>
          <a:p>
            <a:pPr marL="0" indent="0">
              <a:buNone/>
            </a:pPr>
            <a:br>
              <a:rPr lang="en-US" dirty="0">
                <a:solidFill>
                  <a:schemeClr val="bg1"/>
                </a:solidFill>
              </a:rPr>
            </a:br>
            <a:r>
              <a:rPr lang="en-US" dirty="0">
                <a:solidFill>
                  <a:schemeClr val="bg1"/>
                </a:solidFill>
              </a:rPr>
              <a:t>The project is aimed at developing a small renewable-energy charging station that combines solar power and micro-hydropower to provide electricity for charging students' electronic devices.</a:t>
            </a:r>
            <a:br>
              <a:rPr lang="en-US" dirty="0">
                <a:solidFill>
                  <a:schemeClr val="bg1"/>
                </a:solidFill>
              </a:rPr>
            </a:br>
            <a:br>
              <a:rPr lang="en-US" dirty="0">
                <a:solidFill>
                  <a:schemeClr val="bg1"/>
                </a:solidFill>
              </a:rPr>
            </a:br>
            <a:br>
              <a:rPr lang="en-US" dirty="0">
                <a:solidFill>
                  <a:schemeClr val="bg1"/>
                </a:solidFill>
              </a:rPr>
            </a:br>
            <a:r>
              <a:rPr lang="en-US" dirty="0">
                <a:solidFill>
                  <a:schemeClr val="bg1"/>
                </a:solidFill>
              </a:rPr>
              <a:t>This week, our team worked on the CAD design of the proposed charging station using </a:t>
            </a:r>
            <a:r>
              <a:rPr lang="en-US" b="1" dirty="0" err="1">
                <a:solidFill>
                  <a:schemeClr val="bg1"/>
                </a:solidFill>
              </a:rPr>
              <a:t>FreeCAD</a:t>
            </a:r>
            <a:r>
              <a:rPr lang="en-US" dirty="0">
                <a:solidFill>
                  <a:schemeClr val="bg1"/>
                </a:solidFill>
              </a:rPr>
              <a:t>. The design illustrates the station’s overall structure and the arrangement of major components, including the solar panels, hydro turbine and pipe system, battery, monitoring unit, and USB charging ports.</a:t>
            </a:r>
          </a:p>
          <a:p>
            <a:pPr marL="0" indent="0">
              <a:buNone/>
            </a:pPr>
            <a:endParaRPr lang="en-US" sz="2000" dirty="0">
              <a:solidFill>
                <a:schemeClr val="bg1"/>
              </a:solidFill>
            </a:endParaRPr>
          </a:p>
        </p:txBody>
      </p:sp>
    </p:spTree>
    <p:extLst>
      <p:ext uri="{BB962C8B-B14F-4D97-AF65-F5344CB8AC3E}">
        <p14:creationId xmlns:p14="http://schemas.microsoft.com/office/powerpoint/2010/main" val="228362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A1177C3-2DBF-91AE-73BD-D6E389171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1418"/>
            <a:ext cx="12192000" cy="6435163"/>
          </a:xfrm>
          <a:prstGeom prst="rect">
            <a:avLst/>
          </a:prstGeom>
        </p:spPr>
      </p:pic>
    </p:spTree>
    <p:extLst>
      <p:ext uri="{BB962C8B-B14F-4D97-AF65-F5344CB8AC3E}">
        <p14:creationId xmlns:p14="http://schemas.microsoft.com/office/powerpoint/2010/main" val="3549644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0E36E-3BFB-6471-CDBA-6E1CBCF0F5B2}"/>
              </a:ext>
            </a:extLst>
          </p:cNvPr>
          <p:cNvSpPr>
            <a:spLocks noGrp="1"/>
          </p:cNvSpPr>
          <p:nvPr>
            <p:ph idx="1"/>
          </p:nvPr>
        </p:nvSpPr>
        <p:spPr>
          <a:xfrm>
            <a:off x="3929129" y="3095010"/>
            <a:ext cx="4841384" cy="433801"/>
          </a:xfrm>
        </p:spPr>
        <p:txBody>
          <a:bodyPr>
            <a:noAutofit/>
          </a:bodyPr>
          <a:lstStyle/>
          <a:p>
            <a:pPr marL="0" indent="0">
              <a:buNone/>
            </a:pPr>
            <a:r>
              <a:rPr lang="en-US" sz="5400" dirty="0">
                <a:solidFill>
                  <a:schemeClr val="bg1"/>
                </a:solidFill>
              </a:rPr>
              <a:t>THANK YOU!!!!!</a:t>
            </a:r>
          </a:p>
        </p:txBody>
      </p:sp>
      <p:pic>
        <p:nvPicPr>
          <p:cNvPr id="7" name="Picture 6">
            <a:extLst>
              <a:ext uri="{FF2B5EF4-FFF2-40B4-BE49-F238E27FC236}">
                <a16:creationId xmlns:a16="http://schemas.microsoft.com/office/drawing/2014/main" id="{B992394C-D638-18B8-3925-65167D6364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1418"/>
            <a:ext cx="12192000" cy="6435163"/>
          </a:xfrm>
          <a:prstGeom prst="rect">
            <a:avLst/>
          </a:prstGeom>
        </p:spPr>
      </p:pic>
    </p:spTree>
    <p:extLst>
      <p:ext uri="{BB962C8B-B14F-4D97-AF65-F5344CB8AC3E}">
        <p14:creationId xmlns:p14="http://schemas.microsoft.com/office/powerpoint/2010/main" val="286950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B462B9-550A-2748-80B8-748280588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1418"/>
            <a:ext cx="12192000" cy="6435163"/>
          </a:xfrm>
          <a:prstGeom prst="rect">
            <a:avLst/>
          </a:prstGeom>
        </p:spPr>
      </p:pic>
    </p:spTree>
    <p:extLst>
      <p:ext uri="{BB962C8B-B14F-4D97-AF65-F5344CB8AC3E}">
        <p14:creationId xmlns:p14="http://schemas.microsoft.com/office/powerpoint/2010/main" val="1656354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C807F5-1EF6-CFA6-C378-7938A83DCE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6927"/>
            <a:ext cx="12192000" cy="6435163"/>
          </a:xfrm>
          <a:prstGeom prst="rect">
            <a:avLst/>
          </a:prstGeom>
        </p:spPr>
      </p:pic>
    </p:spTree>
    <p:extLst>
      <p:ext uri="{BB962C8B-B14F-4D97-AF65-F5344CB8AC3E}">
        <p14:creationId xmlns:p14="http://schemas.microsoft.com/office/powerpoint/2010/main" val="233810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EA3463-D48F-7508-7596-3FEB37370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1418"/>
            <a:ext cx="12192000" cy="6435163"/>
          </a:xfrm>
          <a:prstGeom prst="rect">
            <a:avLst/>
          </a:prstGeom>
        </p:spPr>
      </p:pic>
    </p:spTree>
    <p:extLst>
      <p:ext uri="{BB962C8B-B14F-4D97-AF65-F5344CB8AC3E}">
        <p14:creationId xmlns:p14="http://schemas.microsoft.com/office/powerpoint/2010/main" val="1495979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CA3A825-830C-4444-7950-0071E00322DA}"/>
              </a:ext>
            </a:extLst>
          </p:cNvPr>
          <p:cNvSpPr/>
          <p:nvPr/>
        </p:nvSpPr>
        <p:spPr>
          <a:xfrm>
            <a:off x="461565" y="4733464"/>
            <a:ext cx="10801008" cy="19184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55CE197-6B80-A305-A840-B2C1F8C83BE2}"/>
              </a:ext>
            </a:extLst>
          </p:cNvPr>
          <p:cNvSpPr/>
          <p:nvPr/>
        </p:nvSpPr>
        <p:spPr>
          <a:xfrm>
            <a:off x="506641" y="2387063"/>
            <a:ext cx="10710855" cy="18158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28CB530-1804-3E5D-EE63-D668ADF6F803}"/>
              </a:ext>
            </a:extLst>
          </p:cNvPr>
          <p:cNvSpPr/>
          <p:nvPr/>
        </p:nvSpPr>
        <p:spPr>
          <a:xfrm>
            <a:off x="506642" y="206062"/>
            <a:ext cx="10613763" cy="160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328D934-ED76-E66F-E6A2-FF5B982A9182}"/>
              </a:ext>
            </a:extLst>
          </p:cNvPr>
          <p:cNvSpPr>
            <a:spLocks noGrp="1"/>
          </p:cNvSpPr>
          <p:nvPr>
            <p:ph idx="1"/>
          </p:nvPr>
        </p:nvSpPr>
        <p:spPr>
          <a:xfrm>
            <a:off x="506642" y="-160170"/>
            <a:ext cx="10515600" cy="4351338"/>
          </a:xfrm>
        </p:spPr>
        <p:txBody>
          <a:bodyPr/>
          <a:lstStyle/>
          <a:p>
            <a:pPr marL="0" indent="0">
              <a:buNone/>
            </a:pPr>
            <a:endParaRPr lang="en-US" dirty="0">
              <a:solidFill>
                <a:schemeClr val="bg1"/>
              </a:solidFill>
            </a:endParaRPr>
          </a:p>
          <a:p>
            <a:pPr marL="0" indent="0">
              <a:buNone/>
            </a:pPr>
            <a:r>
              <a:rPr lang="en-US" dirty="0">
                <a:solidFill>
                  <a:schemeClr val="bg1"/>
                </a:solidFill>
              </a:rPr>
              <a:t>We also completed the </a:t>
            </a:r>
            <a:r>
              <a:rPr lang="en-US" b="1" dirty="0">
                <a:solidFill>
                  <a:schemeClr val="bg1"/>
                </a:solidFill>
              </a:rPr>
              <a:t>electrical schematic design using </a:t>
            </a:r>
            <a:r>
              <a:rPr lang="en-US" b="1" dirty="0" err="1">
                <a:solidFill>
                  <a:schemeClr val="bg1"/>
                </a:solidFill>
              </a:rPr>
              <a:t>KiCad</a:t>
            </a:r>
            <a:r>
              <a:rPr lang="en-US" dirty="0">
                <a:solidFill>
                  <a:schemeClr val="bg1"/>
                </a:solidFill>
              </a:rPr>
              <a:t>. The schematic represents the electrical connections and the integration of the major components of the hybrid charging system.</a:t>
            </a:r>
          </a:p>
          <a:p>
            <a:pPr marL="0" indent="0">
              <a:buNone/>
            </a:pPr>
            <a:endParaRPr lang="en-US" dirty="0"/>
          </a:p>
        </p:txBody>
      </p:sp>
      <p:sp>
        <p:nvSpPr>
          <p:cNvPr id="7" name="TextBox 6">
            <a:extLst>
              <a:ext uri="{FF2B5EF4-FFF2-40B4-BE49-F238E27FC236}">
                <a16:creationId xmlns:a16="http://schemas.microsoft.com/office/drawing/2014/main" id="{F5059E1E-D915-39BD-FD6C-8FA1B46C173F}"/>
              </a:ext>
            </a:extLst>
          </p:cNvPr>
          <p:cNvSpPr txBox="1"/>
          <p:nvPr/>
        </p:nvSpPr>
        <p:spPr>
          <a:xfrm>
            <a:off x="461565" y="2351733"/>
            <a:ext cx="10891159" cy="1815882"/>
          </a:xfrm>
          <a:prstGeom prst="rect">
            <a:avLst/>
          </a:prstGeom>
          <a:noFill/>
        </p:spPr>
        <p:txBody>
          <a:bodyPr wrap="square">
            <a:spAutoFit/>
          </a:bodyPr>
          <a:lstStyle/>
          <a:p>
            <a:pPr marL="0" marR="0">
              <a:lnSpc>
                <a:spcPct val="100000"/>
              </a:lnSpc>
              <a:spcAft>
                <a:spcPts val="800"/>
              </a:spcAft>
              <a:buNone/>
            </a:pPr>
            <a:r>
              <a:rPr lang="en-US" sz="2800" kern="100" dirty="0">
                <a:solidFill>
                  <a:schemeClr val="bg1"/>
                </a:solidFill>
                <a:effectLst/>
                <a:latin typeface="+mn-lt"/>
                <a:ea typeface="Calibri" panose="020F0502020204030204" pitchFamily="34" charset="0"/>
                <a:cs typeface="Times New Roman" panose="02020603050405020304" pitchFamily="18" charset="0"/>
              </a:rPr>
              <a:t>The project is currently at the design and development stage, with the CAD design and electrical schematic completed. The next step is to review both designs, make any necessary corrections, and prepare for the physical prototype development.</a:t>
            </a:r>
            <a:endParaRPr lang="en-US" sz="2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0BC80A66-9B5D-7A45-C7E3-1B9BAEF1CA78}"/>
              </a:ext>
            </a:extLst>
          </p:cNvPr>
          <p:cNvSpPr txBox="1"/>
          <p:nvPr/>
        </p:nvSpPr>
        <p:spPr>
          <a:xfrm>
            <a:off x="416491" y="4733464"/>
            <a:ext cx="10891159" cy="1918474"/>
          </a:xfrm>
          <a:prstGeom prst="rect">
            <a:avLst/>
          </a:prstGeom>
          <a:noFill/>
        </p:spPr>
        <p:txBody>
          <a:bodyPr wrap="square">
            <a:spAutoFit/>
          </a:bodyPr>
          <a:lstStyle/>
          <a:p>
            <a:pPr marL="0" marR="0">
              <a:lnSpc>
                <a:spcPct val="100000"/>
              </a:lnSpc>
              <a:spcAft>
                <a:spcPts val="800"/>
              </a:spcAft>
              <a:buNone/>
            </a:pPr>
            <a:r>
              <a:rPr lang="en-US" sz="2800" b="1" kern="100" dirty="0">
                <a:solidFill>
                  <a:schemeClr val="bg1"/>
                </a:solidFill>
                <a:effectLst/>
                <a:latin typeface="+mn-lt"/>
                <a:ea typeface="Calibri" panose="020F0502020204030204" pitchFamily="34" charset="0"/>
                <a:cs typeface="Times New Roman" panose="02020603050405020304" pitchFamily="18" charset="0"/>
              </a:rPr>
              <a:t>NEXT STEPS</a:t>
            </a:r>
            <a:endParaRPr lang="en-US" sz="2800" kern="100" dirty="0">
              <a:solidFill>
                <a:schemeClr val="bg1"/>
              </a:solidFill>
              <a:effectLst/>
              <a:latin typeface="+mn-lt"/>
              <a:ea typeface="Calibri" panose="020F0502020204030204" pitchFamily="34" charset="0"/>
              <a:cs typeface="Times New Roman" panose="02020603050405020304" pitchFamily="18" charset="0"/>
            </a:endParaRPr>
          </a:p>
          <a:p>
            <a:pPr marL="0" marR="0">
              <a:lnSpc>
                <a:spcPct val="100000"/>
              </a:lnSpc>
              <a:spcAft>
                <a:spcPts val="800"/>
              </a:spcAft>
              <a:buNone/>
            </a:pPr>
            <a:r>
              <a:rPr lang="en-US" sz="2800" kern="100" dirty="0">
                <a:solidFill>
                  <a:schemeClr val="bg1"/>
                </a:solidFill>
                <a:ea typeface="Calibri" panose="020F0502020204030204" pitchFamily="34" charset="0"/>
                <a:cs typeface="Times New Roman" panose="02020603050405020304" pitchFamily="18" charset="0"/>
              </a:rPr>
              <a:t>We</a:t>
            </a:r>
            <a:r>
              <a:rPr lang="en-US" sz="2800" kern="100" dirty="0">
                <a:solidFill>
                  <a:schemeClr val="bg1"/>
                </a:solidFill>
                <a:effectLst/>
                <a:latin typeface="+mn-lt"/>
                <a:ea typeface="Calibri" panose="020F0502020204030204" pitchFamily="34" charset="0"/>
                <a:cs typeface="Times New Roman" panose="02020603050405020304" pitchFamily="18" charset="0"/>
              </a:rPr>
              <a:t> will continue refining the designs, checking the compatibility of the mechanical and electrical components, and planning the construction and testing of the physical prototype.</a:t>
            </a:r>
            <a:endParaRPr lang="en-US" sz="2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4901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94B5C9-9490-C7FA-27C2-ED73665AFD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02" y="31278"/>
            <a:ext cx="11462196" cy="6795444"/>
          </a:xfrm>
          <a:prstGeom prst="rect">
            <a:avLst/>
          </a:prstGeom>
        </p:spPr>
      </p:pic>
    </p:spTree>
    <p:extLst>
      <p:ext uri="{BB962C8B-B14F-4D97-AF65-F5344CB8AC3E}">
        <p14:creationId xmlns:p14="http://schemas.microsoft.com/office/powerpoint/2010/main" val="548939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FFEE544-98B4-6723-1F78-FF6973B790E6}"/>
              </a:ext>
            </a:extLst>
          </p:cNvPr>
          <p:cNvSpPr/>
          <p:nvPr/>
        </p:nvSpPr>
        <p:spPr>
          <a:xfrm>
            <a:off x="2189408" y="2936383"/>
            <a:ext cx="7585657" cy="19318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F91088E-4E65-80BC-2258-49D32392C35E}"/>
              </a:ext>
            </a:extLst>
          </p:cNvPr>
          <p:cNvSpPr>
            <a:spLocks noGrp="1"/>
          </p:cNvSpPr>
          <p:nvPr>
            <p:ph idx="1"/>
          </p:nvPr>
        </p:nvSpPr>
        <p:spPr>
          <a:xfrm>
            <a:off x="670775" y="1253331"/>
            <a:ext cx="10515600" cy="4351338"/>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8000" dirty="0"/>
              <a:t>        THANK </a:t>
            </a:r>
            <a:r>
              <a:rPr lang="en-US" sz="8000"/>
              <a:t>YOU!!!!!</a:t>
            </a:r>
            <a:endParaRPr lang="en-US" sz="8000" dirty="0"/>
          </a:p>
        </p:txBody>
      </p:sp>
    </p:spTree>
    <p:extLst>
      <p:ext uri="{BB962C8B-B14F-4D97-AF65-F5344CB8AC3E}">
        <p14:creationId xmlns:p14="http://schemas.microsoft.com/office/powerpoint/2010/main" val="879242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219</Words>
  <Application>Microsoft Office PowerPoint</Application>
  <PresentationFormat>Widescreen</PresentationFormat>
  <Paragraphs>15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Calibri Light</vt:lpstr>
      <vt:lpstr>Office Theme</vt:lpstr>
      <vt:lpstr>PROJECT PROGRESS REPORT NEX COHORT- GROUP 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Remilekun Agemo</dc:creator>
  <cp:lastModifiedBy>Remilekun Agemo</cp:lastModifiedBy>
  <cp:revision>93</cp:revision>
  <dcterms:created xsi:type="dcterms:W3CDTF">2026-09-19T05:52:55Z</dcterms:created>
  <dcterms:modified xsi:type="dcterms:W3CDTF">2026-10-10T12:06:06Z</dcterms:modified>
</cp:coreProperties>
</file>
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7312E-C313-EA40-A60C-C951635188F6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A8A92-8E50-0B41-906C-EC4AA4FB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4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Pictorial diagram of the connection of the Solar power PA system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A8A92-8E50-0B41-906C-EC4AA4FB6B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46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SIMULATION </a:t>
            </a:r>
          </a:p>
          <a:p>
            <a:endParaRPr lang="en-GB" dirty="0"/>
          </a:p>
          <a:p>
            <a:r>
              <a:rPr lang="en-GB" dirty="0"/>
              <a:t>System Validation (8:00 AM – 4:00 PM)
• Continuous Load (🔵 Light Blue): Inverter draws a steady 15.6 Amps (~200W) to power the audio mixer and wall-mounted speakers.
• Solar Generation (🔴 Red): Follows the sun’s curve, peaking at 18.0 Amps at 12:00 PM noon to completely overtake the system load.
• Net Battery Current (🌌 Dark Blue): Drains in the morning (-13.6A), but switches to active charging (+2.4A) at noon with excess solar energy.
• Battery Voltage (🟢 Green): Remains completely stable at 12.8 Volts, proving the system maintains equilibrium and will not crash.
Conclusion: The 250W solar panel successfully powers the school PA system directly during peak hours while keeping the 100Ah </a:t>
            </a:r>
            <a:r>
              <a:rPr lang="en-GB" dirty="0" err="1"/>
              <a:t>LiFePO</a:t>
            </a:r>
            <a:r>
              <a:rPr lang="en-GB" dirty="0"/>
              <a:t>₄ battery safely charged.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A8A92-8E50-0B41-906C-EC4AA4FB6B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3200400" cy="32004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943600"/>
            <a:ext cx="1554480" cy="1554480"/>
          </a:xfrm>
          <a:prstGeom prst="ellipse">
            <a:avLst/>
          </a:prstGeom>
          <a:solidFill>
            <a:srgbClr val="FDB44B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SOLAR-POWERED PA SYSTEM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DB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Evaluation &amp; Connection Simulation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34747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project's multi-vendor market price survey (N-Type vs. Average Price)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Eno  |  University of Lagos Engineering Society – Academic &amp; Research Board</a:t>
            </a:r>
            <a:endParaRPr lang="en-US" sz="1200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EVALUATION — MARKET PRICE SURVEY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1–</a:t>
            </a:r>
            <a:r>
              <a:rPr lang="en-GB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(power subsystem), as compiled across multiple supplier quotes. Figures in ₦ (Naira).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47642"/>
              </p:ext>
            </p:extLst>
          </p:nvPr>
        </p:nvGraphicFramePr>
        <p:xfrm>
          <a:off x="548640" y="1575816"/>
          <a:ext cx="6915537" cy="4916425"/>
        </p:xfrm>
        <a:graphic>
          <a:graphicData uri="http://schemas.openxmlformats.org/drawingml/2006/table">
            <a:tbl>
              <a:tblPr/>
              <a:tblGrid>
                <a:gridCol w="227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4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Maximal 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5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Solar Panel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250W, Monocrystalline</a:t>
                      </a: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 –Type)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2. MPPT Charge Controller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20–30A, 12/24V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3. Battery 100ah, 12V LiFePO</a:t>
                      </a:r>
                      <a:r>
                        <a:rPr lang="en-GB" sz="1000" b="1" baseline="0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baseline="0" dirty="0">
                        <a:solidFill>
                          <a:srgbClr val="0B2540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baseline="0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4. Inverter 500W, Pure Sine Wave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r>
                        <a:rPr lang="en-US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Mixer ,Multi-Channel 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6. Amplifier 150 –300W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7. Wireless Microphone (Lapel/Handheld)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Active PA  Speakers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Wireless, Built-in Amp ×2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9. Cables and Connectors </a:t>
                      </a:r>
                    </a:p>
                    <a:p>
                      <a:pPr marL="0" indent="0" algn="l">
                        <a:buNone/>
                      </a:pPr>
                      <a:endParaRPr lang="en-GB" sz="1000" b="1" dirty="0">
                        <a:solidFill>
                          <a:srgbClr val="0B254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GB" sz="1000" b="1" dirty="0">
                          <a:solidFill>
                            <a:srgbClr val="0B254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10. Contingency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</a:t>
                      </a: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10 </a:t>
                      </a:r>
                    </a:p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GB" sz="1000" dirty="0">
                        <a:solidFill>
                          <a:schemeClr val="tx1"/>
                        </a:solidFill>
                        <a:latin typeface="Calibri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latin typeface="Calibri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rgbClr val="4A4A4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solidFill>
                          <a:schemeClr val="tx1"/>
                        </a:solidFill>
                        <a:latin typeface="Calibri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GB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41732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0B254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75320" y="16184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B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TOTALS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984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summed directly from all surveyed options: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— Items 1–</a:t>
            </a:r>
            <a:r>
              <a:rPr lang="en-GB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715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DB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</a:t>
            </a:r>
            <a:r>
              <a:rPr lang="en-GB" sz="1500" b="1" dirty="0">
                <a:solidFill>
                  <a:srgbClr val="FDB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575,000</a:t>
            </a:r>
            <a:r>
              <a:rPr lang="en-US" sz="1500" b="1" dirty="0">
                <a:solidFill>
                  <a:srgbClr val="FDB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₦1,</a:t>
            </a:r>
            <a:r>
              <a:rPr lang="en-GB" sz="1500" b="1" dirty="0">
                <a:solidFill>
                  <a:srgbClr val="FDB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</a:t>
            </a:r>
            <a:r>
              <a:rPr lang="en-US" sz="1500" b="1" dirty="0">
                <a:solidFill>
                  <a:srgbClr val="FDB4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,000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75320" y="3246120"/>
            <a:ext cx="3063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 startAt="7"/>
            </a:pPr>
            <a:r>
              <a:rPr lang="en-GB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Microphone (Lapel/Handheld) : 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8275320" y="3685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unit price: ₦  </a:t>
            </a:r>
            <a:r>
              <a:rPr lang="en-GB" sz="10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r>
              <a:rPr lang="en-US" sz="10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₦</a:t>
            </a:r>
            <a:r>
              <a:rPr lang="en-GB" sz="1000" i="1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959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(back-calculated from the running total below)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275320" y="4343400"/>
            <a:ext cx="3063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5239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N-Type (budget/generic)  →  Average (branded/market)</a:t>
            </a:r>
            <a:endParaRPr lang="en-US" sz="830" dirty="0"/>
          </a:p>
        </p:txBody>
      </p:sp>
      <p:sp>
        <p:nvSpPr>
          <p:cNvPr id="18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PROJECT BUDGET OUTLOOK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1–</a:t>
            </a:r>
            <a:r>
              <a:rPr lang="en-GB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primary surveyed option per </a:t>
            </a:r>
            <a:r>
              <a:rPr lang="en-GB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228100"/>
              </p:ext>
            </p:extLst>
          </p:nvPr>
        </p:nvGraphicFramePr>
        <p:xfrm>
          <a:off x="548640" y="1371600"/>
          <a:ext cx="7772400" cy="33832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Est. (₦)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/ Est. (₦)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 (250W 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Monocrystalline N type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MPPT Charge 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(100Ah LiFePO4)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charset="0"/>
                          <a:cs typeface="Calibri" charset="0"/>
                        </a:rPr>
                        <a:t>200,000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 (500W Pure Sine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Wave)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Mixer (multi-channel)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Amplifier (150–300W)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Quoted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Microphone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PA Speakers </a:t>
                      </a: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(under review)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Quoted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 &amp;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GB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r>
                        <a:rPr lang="en-US" sz="10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GB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Quoted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SIMULATION — SYSTEM ARCHITECTURE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CHAIN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26464"/>
            <a:ext cx="1600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9908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250W </a:t>
            </a:r>
            <a:r>
              <a:rPr lang="en-GB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Monocrystalline N–type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16779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13716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426464"/>
            <a:ext cx="1600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MPPT Controller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179908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20-30A </a:t>
            </a:r>
            <a:r>
              <a:rPr lang="en-GB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12/24V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87952" y="16779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3984" y="13716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9704" y="1426464"/>
            <a:ext cx="1600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179908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100Ah LiFePO4 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35624" y="16779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391656" y="13716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1426464"/>
            <a:ext cx="1600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Sine Inverter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179908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500W 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83296" y="167792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137160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FDB4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85048" y="1426464"/>
            <a:ext cx="118872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Power Bus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85048" y="179908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audio gear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2377440"/>
            <a:ext cx="9189720" cy="0"/>
          </a:xfrm>
          <a:prstGeom prst="line">
            <a:avLst/>
          </a:prstGeom>
          <a:noFill/>
          <a:ln w="25400">
            <a:solidFill>
              <a:srgbClr val="FDB44B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863840" y="2404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POWER DISTRIBUTION (dashed)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CHAIN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118104"/>
            <a:ext cx="14630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Mic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49072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Lapel/Handheld 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25880" y="2377440"/>
            <a:ext cx="0" cy="685800"/>
          </a:xfrm>
          <a:prstGeom prst="line">
            <a:avLst/>
          </a:prstGeom>
          <a:noFill/>
          <a:ln w="19050">
            <a:solidFill>
              <a:srgbClr val="FDB44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103120" y="336956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2359152" y="30632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04872" y="3118104"/>
            <a:ext cx="14630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Mixer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404872" y="349072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36392" y="2377440"/>
            <a:ext cx="0" cy="685800"/>
          </a:xfrm>
          <a:prstGeom prst="line">
            <a:avLst/>
          </a:prstGeom>
          <a:noFill/>
          <a:ln w="19050">
            <a:solidFill>
              <a:srgbClr val="FDB44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913632" y="336956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4169664" y="306324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15384" y="3118104"/>
            <a:ext cx="14630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215384" y="349072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150-300W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46904" y="2377440"/>
            <a:ext cx="0" cy="685800"/>
          </a:xfrm>
          <a:prstGeom prst="line">
            <a:avLst/>
          </a:prstGeom>
          <a:noFill/>
          <a:ln w="19050">
            <a:solidFill>
              <a:srgbClr val="FDB44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724144" y="3369564"/>
            <a:ext cx="256032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5980176" y="306324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025896" y="3118104"/>
            <a:ext cx="31089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Active PA Speakers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025896" y="349072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80376" y="2377440"/>
            <a:ext cx="0" cy="685800"/>
          </a:xfrm>
          <a:prstGeom prst="line">
            <a:avLst/>
          </a:prstGeom>
          <a:noFill/>
          <a:ln w="19050">
            <a:solidFill>
              <a:srgbClr val="FDB44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48640" y="4206240"/>
            <a:ext cx="27432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6868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path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4206240"/>
            <a:ext cx="274320" cy="109728"/>
          </a:xfrm>
          <a:prstGeom prst="rect">
            <a:avLst/>
          </a:prstGeom>
          <a:solidFill>
            <a:srgbClr val="FDB44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15468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power distribution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77840" y="4178808"/>
            <a:ext cx="274320" cy="15544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58978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border = spec under review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B254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B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&amp; COST NOTES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→ MPPT (MC4/PV cable) → Battery (fused DC cable) → Inverter (heavy-gauge DC, min. 10 AWG) → AC power strip feeding the audio chain.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mic → Mixer (XLR) → Amplifier/Active speakers (balanced XLR or TRS); active speakers carry their own internal amp, powered via the AC bus.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ranges shown per block reflect the N-Type (generic/budget) to Average (branded) spread from the market survey; items 5–9 are placeholder estimates pending quotes.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4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 speaker spec is flagged “under review” in the project notes — final choice (wireless active vs. passive + dedicated amp) still to be confirmed.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E5102D-9527-3182-F800-6CB8D5DB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9554"/>
            <a:ext cx="12192000" cy="57284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60479-5D4C-5182-4EF0-DBD7663A54BA}"/>
              </a:ext>
            </a:extLst>
          </p:cNvPr>
          <p:cNvSpPr txBox="1"/>
          <p:nvPr/>
        </p:nvSpPr>
        <p:spPr>
          <a:xfrm>
            <a:off x="735106" y="161365"/>
            <a:ext cx="86240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A Pictorial diagram of the connection of the Solar power PA system 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4373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CC21E6-3C35-FB59-0FDA-36AB0ABA5A55}"/>
              </a:ext>
            </a:extLst>
          </p:cNvPr>
          <p:cNvSpPr txBox="1"/>
          <p:nvPr/>
        </p:nvSpPr>
        <p:spPr>
          <a:xfrm>
            <a:off x="125506" y="0"/>
            <a:ext cx="102556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accent1">
                    <a:lumMod val="50000"/>
                  </a:schemeClr>
                </a:solidFill>
              </a:rPr>
              <a:t>SIMULATION</a:t>
            </a:r>
            <a:endParaRPr lang="en-US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B9C99-2B33-5375-F541-CBB028952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775"/>
            <a:ext cx="7476565" cy="6273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EE67D-3C82-A58C-9402-8E0C41E8B3CA}"/>
              </a:ext>
            </a:extLst>
          </p:cNvPr>
          <p:cNvSpPr txBox="1"/>
          <p:nvPr/>
        </p:nvSpPr>
        <p:spPr>
          <a:xfrm>
            <a:off x="7602072" y="1047245"/>
            <a:ext cx="4589928" cy="5810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System Validation (8:00 AM – 4:00 PM)• Continuous Load (🔵 dark Blue): Inverter draws a steady 15.6 Amps  200W) to power the audio mixer and wall-mounted speakers.• Solar Generation (🔴 Red): Follows the sun’s curve, peaking at 18.0 Amps at 12:00 PM noon to completely overtake the system load.• Net Battery Current (⛎ Light Blue): Drains in the morning (-13.6A), but switches to active charging (+2.4A) at noon with excess solar energy.• Battery Voltage (🟢 Green): Remains completely stable at 12.8 Volts, proving the system maintains equilibrium and will not crash.Conclusion: The 250W solar panel successfully powers the school PA system directly during peak hours while keeping the 100Ah </a:t>
            </a:r>
            <a:r>
              <a:rPr lang="en-GB" dirty="0" err="1"/>
              <a:t>LiFePO</a:t>
            </a:r>
            <a:r>
              <a:rPr lang="en-GB" dirty="0"/>
              <a:t>₄ battery safely charged.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5571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EDCD73-BC4F-410C-8588-884C92BFC608}"/>
              </a:ext>
            </a:extLst>
          </p:cNvPr>
          <p:cNvSpPr/>
          <p:nvPr/>
        </p:nvSpPr>
        <p:spPr>
          <a:xfrm>
            <a:off x="4280632" y="2967335"/>
            <a:ext cx="3630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679079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901</Words>
  <Application>Microsoft Office PowerPoint</Application>
  <PresentationFormat>Widescreen</PresentationFormat>
  <Paragraphs>192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2026-10-02T18:31:42Z</dcterms:created>
  <dcterms:modified xsi:type="dcterms:W3CDTF">2026-10-10T16:35:46Z</dcterms:modified>
</cp:coreProperties>
</file>
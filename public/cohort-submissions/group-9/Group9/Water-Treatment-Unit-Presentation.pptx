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b9cc16a-3149-7ffa-83f7-04c2c0f392c8}">
          <p14:sldIdLst>
            <p14:sldId id="256"/>
          </p14:sldIdLst>
        </p14:section>
        <p14:section name="Problem" id="{1721951e-e3fa-0309-0933-508c2d816a6b}">
          <p14:sldIdLst>
            <p14:sldId id="257"/>
            <p14:sldId id="258"/>
            <p14:sldId id="259"/>
          </p14:sldIdLst>
        </p14:section>
        <p14:section name="Solution" id="{b0423938-a819-8e0a-58cc-d6510f476982}">
          <p14:sldIdLst>
            <p14:sldId id="260"/>
            <p14:sldId id="261"/>
          </p14:sldIdLst>
        </p14:section>
        <p14:section name="Design" id="{d5f8ee03-5859-11ac-4937-64bb3ee99a96}">
          <p14:sldIdLst>
            <p14:sldId id="262"/>
            <p14:sldId id="263"/>
            <p14:sldId id="264"/>
          </p14:sldIdLst>
        </p14:section>
        <p14:section name="Plan" id="{050e1e14-be6b-782e-1c99-25a428899cb6}">
          <p14:sldIdLst>
            <p14:sldId id="265"/>
            <p14:sldId id="266"/>
            <p14:sldId id="267"/>
          </p14:sldIdLst>
        </p14:section>
        <p14:section name="Close" id="{c6157bf1-73b4-d265-5506-b34cc21ba242}">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We are Group 9 from the NEX Research and Innovation Cohort 2026. Today we will take you from the problem we found at LASU Epe, to the low-cost treatment unit we designed, to the CAD model and simulation, and finally the risks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first looked at the electricity problem. Epe has had no public grid power for about five years and the hostel only gets one hour of light in the morning and three in the evening. Fixing that needs capital beyond our six-week scope, so we turned to unsafe drinking water, a problem we can actually tackle.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Week 1 and Week 2 reports used published studies of the Epe borehole water. The water is very acidic, with a pH between 3.8 and 6.8 against a safe range of 6.5 to 8.5. Lead is about four and a half times the limit, nickel is above safe limits, and the pollution indices say the water is polluted and unsafe.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Week 3 we compared four point-of-use options. We recommended low-cost faucet filters as the quick fix and, in the long term, rehabilitating the mini water works with routine testing. For our proof of concept we went further and designed one unit that deals with dirt, acidity, metals and bacteria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 moves through six stages by gravity. The settling drum removes heavy dirt, limestone raises the pH, the sand and gravel filter catches fine particles, activated carbon adsorbs metals and odours, chlorine kills bacteria, and the covered tank keeps the water safe until it is drawn from the tap. The unit gives about 20 litres an hour, roughly 160 litres in an eight-hour day for around 40 people, at an estimated cost of 150 to 350 thousand naira.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campus already pumps borehole water into a storage tank before it reaches the taps. Our plan is to add the treatment unit into that line, after the storage tank, so the water is treated before it is used. We plan to seek funding for the build and 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CAD model, rotating so you can see every stage. It is a stepped cascade: the blue settling drum sits on a tall stand and each stage after it sits a little lower, so water flows downhill with no pump. Then you can see the white limestone column, the tan sand and gravel column, the black carbon column, the orange chlorine unit and the covered storage tank. The drum and tank sizes are still assumed at about 200 litres each until we confirm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numbers for the unit. Flow is about 20 litres an hour with no electricity. The three columns are four-inch PVC pipes, one metre tall. The drum and tank sizes are assumptions we still need to confirm, and the cost is an estimate until we get supplier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animation follows the water through all six stages. Muddy water enters the drum and the dirt sinks. The limestone raises the pH, the sand and carbon clear the water and take out metals, and chlorine kills the bacteria. The numbers on screen are assumed planning values, not lab results, and lab tests will confirm how the real unit performs.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risks. The biggest ones are the carbon wearing out so metals pass through, a wrong chlorine dose, and the water getting dirty again after treatment. We also have not yet verified the output in a lab. Each risk has a simple control, mostly testing and a maintenance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estimate the build cost at 150 to 350 thousand naira. That is an estimate until we get supplier quotes. We plan to seek funding, connect the unit to the existing borehole pump and tank system, and make sure someone is responsible for maintenance. Our implementation and funding report gives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steps are to book a lab for lead, nickel and coliform tests, get supplier quotes, finalise the sizes in the CAD model, build the prototype, and then test the output every week. In the long term we recommend rehabilitating the mini water works and keeping routine testing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our proof of concept: a low-cost, gravity-fed unit that treats the dirt, acidity, metals and bacteria in the borehole water. Our next step is lab testing and quotes.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0262B"/>
        </a:solidFill>
      </p:bgPr>
    </p:bg>
    <p:spTree>
      <p:nvGrpSpPr>
        <p:cNvPr id="1" name=""/>
        <p:cNvGrpSpPr/>
        <p:nvPr/>
      </p:nvGrpSpPr>
      <p:grpSpPr>
        <a:xfrm>
          <a:off x="0" y="0"/>
          <a:ext cx="0" cy="0"/>
          <a:chOff x="0" y="0"/>
          <a:chExt cx="0" cy="0"/>
        </a:xfrm>
      </p:grpSpPr>
      <p:sp>
        <p:nvSpPr>
          <p:cNvPr id="2" name="Shape 0"/>
          <p:cNvSpPr/>
          <p:nvPr/>
        </p:nvSpPr>
        <p:spPr>
          <a:xfrm>
            <a:off x="0" y="6400800"/>
            <a:ext cx="2031949" cy="457200"/>
          </a:xfrm>
          <a:prstGeom prst="rect">
            <a:avLst/>
          </a:prstGeom>
          <a:solidFill>
            <a:schemeClr val="accent4"/>
          </a:solidFill>
          <a:ln/>
        </p:spPr>
      </p:sp>
      <p:sp>
        <p:nvSpPr>
          <p:cNvPr id="3" name="Shape 1"/>
          <p:cNvSpPr/>
          <p:nvPr/>
        </p:nvSpPr>
        <p:spPr>
          <a:xfrm>
            <a:off x="2031949" y="6400800"/>
            <a:ext cx="2031949" cy="457200"/>
          </a:xfrm>
          <a:prstGeom prst="rect">
            <a:avLst/>
          </a:prstGeom>
          <a:solidFill>
            <a:schemeClr val="accent6"/>
          </a:solidFill>
          <a:ln/>
        </p:spPr>
      </p:sp>
      <p:sp>
        <p:nvSpPr>
          <p:cNvPr id="4" name="Shape 2"/>
          <p:cNvSpPr/>
          <p:nvPr/>
        </p:nvSpPr>
        <p:spPr>
          <a:xfrm>
            <a:off x="4063898" y="6400800"/>
            <a:ext cx="2031949" cy="457200"/>
          </a:xfrm>
          <a:prstGeom prst="rect">
            <a:avLst/>
          </a:prstGeom>
          <a:solidFill>
            <a:schemeClr val="accent5"/>
          </a:solidFill>
          <a:ln/>
        </p:spPr>
      </p:sp>
      <p:sp>
        <p:nvSpPr>
          <p:cNvPr id="5" name="Shape 3"/>
          <p:cNvSpPr/>
          <p:nvPr/>
        </p:nvSpPr>
        <p:spPr>
          <a:xfrm>
            <a:off x="6095848" y="6400800"/>
            <a:ext cx="2031949" cy="457200"/>
          </a:xfrm>
          <a:prstGeom prst="rect">
            <a:avLst/>
          </a:prstGeom>
          <a:solidFill>
            <a:schemeClr val="accent1"/>
          </a:solidFill>
          <a:ln/>
        </p:spPr>
      </p:sp>
      <p:sp>
        <p:nvSpPr>
          <p:cNvPr id="6" name="Shape 4"/>
          <p:cNvSpPr/>
          <p:nvPr/>
        </p:nvSpPr>
        <p:spPr>
          <a:xfrm>
            <a:off x="8127797" y="6400800"/>
            <a:ext cx="2031949" cy="457200"/>
          </a:xfrm>
          <a:prstGeom prst="rect">
            <a:avLst/>
          </a:prstGeom>
          <a:solidFill>
            <a:schemeClr val="accent3"/>
          </a:solidFill>
          <a:ln/>
        </p:spPr>
      </p:sp>
      <p:sp>
        <p:nvSpPr>
          <p:cNvPr id="7" name="Shape 5"/>
          <p:cNvSpPr/>
          <p:nvPr/>
        </p:nvSpPr>
        <p:spPr>
          <a:xfrm>
            <a:off x="10159746" y="6400800"/>
            <a:ext cx="2031949" cy="457200"/>
          </a:xfrm>
          <a:prstGeom prst="rect">
            <a:avLst/>
          </a:prstGeom>
          <a:solidFill>
            <a:schemeClr val="accent2"/>
          </a:solidFill>
          <a:ln/>
        </p:spPr>
      </p:sp>
      <p:sp>
        <p:nvSpPr>
          <p:cNvPr id="8" name="Text 6"/>
          <p:cNvSpPr/>
          <p:nvPr>
            <p:ph idx="106" type="title" hasCustomPrompt="1"/>
          </p:nvPr>
        </p:nvSpPr>
        <p:spPr>
          <a:xfrm>
            <a:off x="731520" y="182880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9" name="Text 6"/>
          <p:cNvSpPr/>
          <p:nvPr>
            <p:ph idx="107" type="body" hasCustomPrompt="1"/>
          </p:nvPr>
        </p:nvSpPr>
        <p:spPr>
          <a:xfrm>
            <a:off x="731520" y="3794760"/>
            <a:ext cx="10698480" cy="13716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2EF"/>
        </a:solidFill>
      </p:bgPr>
    </p:bg>
    <p:spTree>
      <p:nvGrpSpPr>
        <p:cNvPr id="1" name=""/>
        <p:cNvGrpSpPr/>
        <p:nvPr/>
      </p:nvGrpSpPr>
      <p:grpSpPr>
        <a:xfrm>
          <a:off x="0" y="0"/>
          <a:ext cx="0" cy="0"/>
          <a:chOff x="0" y="0"/>
          <a:chExt cx="0" cy="0"/>
        </a:xfrm>
      </p:grpSpPr>
      <p:sp>
        <p:nvSpPr>
          <p:cNvPr id="2" name="Shape 0"/>
          <p:cNvSpPr/>
          <p:nvPr/>
        </p:nvSpPr>
        <p:spPr>
          <a:xfrm>
            <a:off x="548640" y="1170432"/>
            <a:ext cx="822960" cy="54864"/>
          </a:xfrm>
          <a:prstGeom prst="rect">
            <a:avLst/>
          </a:prstGeom>
          <a:solidFill>
            <a:schemeClr val="accent1"/>
          </a:solidFill>
          <a:ln/>
        </p:spPr>
      </p:sp>
      <p:sp>
        <p:nvSpPr>
          <p:cNvPr id="3" name="Text 1"/>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Group 9  |  NEX Research and Innovation Cohort 2026  |  LASU Epe</a:t>
            </a:r>
            <a:endParaRPr lang="en-US" sz="1000" dirty="0"/>
          </a:p>
        </p:txBody>
      </p:sp>
      <p:sp>
        <p:nvSpPr>
          <p:cNvPr id="4" name="Text 2"/>
          <p:cNvSpPr/>
          <p:nvPr>
            <p:ph idx="102" type="title" hasCustomPrompt="1"/>
          </p:nvPr>
        </p:nvSpPr>
        <p:spPr>
          <a:xfrm>
            <a:off x="548640" y="274320"/>
            <a:ext cx="11064240"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6"/>
          <p:cNvSpPr/>
          <p:nvPr>
            <p:ph idx="106"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Low-Cost Six-Stage Water Treatment Unit</a:t>
            </a:r>
            <a:endParaRPr lang="en-US" sz="4400" dirty="0"/>
          </a:p>
        </p:txBody>
      </p:sp>
      <p:sp>
        <p:nvSpPr>
          <p:cNvPr id="3" name="Text 6"/>
          <p:cNvSpPr/>
          <p:nvPr>
            <p:ph idx="107" type="body" hasCustomPrompt="1"/>
          </p:nvPr>
        </p:nvSpPr>
        <p:spPr>
          <a:xfrm>
            <a:off x="731520" y="3794760"/>
            <a:ext cx="10698480" cy="1371600"/>
          </a:xfrm>
          <a:prstGeom prst="rect">
            <a:avLst/>
          </a:prstGeom>
          <a:noFill/>
          <a:ln/>
        </p:spPr>
        <p:txBody>
          <a:bodyPr wrap="square" lIns="0" tIns="0" rIns="0" bIns="0" rtlCol="0" anchor="t"/>
          <a:lstStyle/>
          <a:p>
            <a:pPr algn="l" indent="0" marL="0">
              <a:buNone/>
            </a:pPr>
            <a:r>
              <a:rPr lang="en-US" sz="2000" dirty="0">
                <a:solidFill>
                  <a:schemeClr val="bg2"/>
                </a:solidFill>
              </a:rPr>
              <a:t>Safe drinking water for LASU Epe: proof of concept, CAD design and simulation</a:t>
            </a:r>
            <a:endParaRPr lang="en-US" sz="2000" dirty="0"/>
          </a:p>
          <a:p>
            <a:pPr algn="l" indent="0" marL="0">
              <a:buNone/>
            </a:pPr>
            <a:r>
              <a:rPr lang="en-US" sz="2000" dirty="0">
                <a:solidFill>
                  <a:schemeClr val="bg2"/>
                </a:solidFill>
              </a:rPr>
              <a:t> </a:t>
            </a:r>
            <a:endParaRPr lang="en-US" sz="2000" dirty="0"/>
          </a:p>
          <a:p>
            <a:pPr algn="l" indent="0" marL="0">
              <a:buNone/>
            </a:pPr>
            <a:r>
              <a:rPr lang="en-US" sz="1600" dirty="0">
                <a:solidFill>
                  <a:schemeClr val="bg2"/>
                </a:solidFill>
              </a:rPr>
              <a:t>Group 9  |  NEX Research and Innovation Cohort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Why we changed our focus</a:t>
            </a:r>
            <a:endParaRPr lang="en-US" sz="3000" dirty="0"/>
          </a:p>
        </p:txBody>
      </p:sp>
      <p:sp>
        <p:nvSpPr>
          <p:cNvPr id="4" name="Text 1"/>
          <p:cNvSpPr txBox="1"/>
          <p:nvPr/>
        </p:nvSpPr>
        <p:spPr>
          <a:xfrm>
            <a:off x="548640" y="1554480"/>
            <a:ext cx="6583680" cy="3108960"/>
          </a:xfrm>
          <a:prstGeom prst="rect">
            <a:avLst/>
          </a:prstGeom>
          <a:noFill/>
          <a:ln/>
        </p:spPr>
        <p:txBody>
          <a:bodyPr wrap="square" lIns="0" tIns="0" rIns="0" bIns="0" rtlCol="0" anchor="t"/>
          <a:lstStyle/>
          <a:p>
            <a:pPr indent="0" marL="0">
              <a:buNone/>
            </a:pPr>
            <a:r>
              <a:rPr lang="en-US" sz="2000" b="1" dirty="0">
                <a:solidFill>
                  <a:schemeClr val="tx1"/>
                </a:solidFill>
              </a:rPr>
              <a:t>We first looked at the lack of power at LASU Epe</a:t>
            </a:r>
            <a:endParaRPr lang="en-US" sz="1800" dirty="0"/>
          </a:p>
          <a:p>
            <a:pPr marL="342900" indent="-342900">
              <a:spcAft>
                <a:spcPts val="800"/>
              </a:spcAft>
              <a:buSzPct val="100000"/>
              <a:buChar char="•"/>
            </a:pPr>
            <a:r>
              <a:rPr lang="en-US" sz="1800" dirty="0">
                <a:solidFill>
                  <a:schemeClr val="tx1"/>
                </a:solidFill>
              </a:rPr>
              <a:t>No public grid power for about 5 years</a:t>
            </a:r>
            <a:endParaRPr lang="en-US" sz="1800" dirty="0"/>
          </a:p>
          <a:p>
            <a:pPr marL="342900" indent="-342900">
              <a:spcAft>
                <a:spcPts val="800"/>
              </a:spcAft>
              <a:buSzPct val="100000"/>
              <a:buChar char="•"/>
            </a:pPr>
            <a:r>
              <a:rPr lang="en-US" sz="1800" dirty="0">
                <a:solidFill>
                  <a:schemeClr val="tx1"/>
                </a:solidFill>
              </a:rPr>
              <a:t>The hostel gets 1 hour of light in the morning and 3 hours in the evening</a:t>
            </a:r>
            <a:endParaRPr lang="en-US" sz="1800" dirty="0"/>
          </a:p>
          <a:p>
            <a:pPr marL="342900" indent="-342900">
              <a:buSzPct val="100000"/>
              <a:buChar char="•"/>
            </a:pPr>
            <a:r>
              <a:rPr lang="en-US" sz="1800" dirty="0">
                <a:solidFill>
                  <a:schemeClr val="tx1"/>
                </a:solidFill>
              </a:rPr>
              <a:t>A real fix needs capital beyond our 6-week project</a:t>
            </a:r>
            <a:endParaRPr lang="en-US" sz="1800" dirty="0"/>
          </a:p>
        </p:txBody>
      </p:sp>
      <p:sp>
        <p:nvSpPr>
          <p:cNvPr id="5" name="Stat grid power"/>
          <p:cNvSpPr/>
          <p:nvPr/>
        </p:nvSpPr>
        <p:spPr>
          <a:xfrm>
            <a:off x="7589520" y="1554480"/>
            <a:ext cx="4023360" cy="1417320"/>
          </a:xfrm>
          <a:prstGeom prst="roundRect">
            <a:avLst>
              <a:gd name="adj" fmla="val 5161"/>
            </a:avLst>
          </a:prstGeom>
          <a:solidFill>
            <a:schemeClr val="bg1"/>
          </a:solidFill>
          <a:ln w="12700">
            <a:solidFill>
              <a:srgbClr val="CFD9D6"/>
            </a:solidFill>
            <a:prstDash val="solid"/>
          </a:ln>
        </p:spPr>
      </p:sp>
      <p:sp>
        <p:nvSpPr>
          <p:cNvPr id="6" name="Text 3"/>
          <p:cNvSpPr txBox="1"/>
          <p:nvPr/>
        </p:nvSpPr>
        <p:spPr>
          <a:xfrm>
            <a:off x="7818120" y="1737360"/>
            <a:ext cx="3566160" cy="637794"/>
          </a:xfrm>
          <a:prstGeom prst="rect">
            <a:avLst/>
          </a:prstGeom>
          <a:noFill/>
          <a:ln/>
        </p:spPr>
        <p:txBody>
          <a:bodyPr wrap="square" lIns="0" tIns="0" rIns="0" bIns="0" rtlCol="0" anchor="ctr"/>
          <a:lstStyle/>
          <a:p>
            <a:pPr indent="0" marL="0">
              <a:buNone/>
            </a:pPr>
            <a:r>
              <a:rPr lang="en-US" sz="3400" b="1" dirty="0">
                <a:solidFill>
                  <a:schemeClr val="accent2"/>
                </a:solidFill>
              </a:rPr>
              <a:t>5 years</a:t>
            </a:r>
            <a:endParaRPr lang="en-US" sz="3400" dirty="0"/>
          </a:p>
        </p:txBody>
      </p:sp>
      <p:sp>
        <p:nvSpPr>
          <p:cNvPr id="7" name="Text 4"/>
          <p:cNvSpPr txBox="1"/>
          <p:nvPr/>
        </p:nvSpPr>
        <p:spPr>
          <a:xfrm>
            <a:off x="7818120" y="2375154"/>
            <a:ext cx="3566160" cy="413766"/>
          </a:xfrm>
          <a:prstGeom prst="rect">
            <a:avLst/>
          </a:prstGeom>
          <a:noFill/>
          <a:ln/>
        </p:spPr>
        <p:txBody>
          <a:bodyPr wrap="square" lIns="0" tIns="0" rIns="0" bIns="0" rtlCol="0" anchor="t"/>
          <a:lstStyle/>
          <a:p>
            <a:pPr indent="0" marL="0">
              <a:buNone/>
            </a:pPr>
            <a:r>
              <a:rPr lang="en-US" sz="1600" dirty="0">
                <a:solidFill>
                  <a:schemeClr val="tx1"/>
                </a:solidFill>
              </a:rPr>
              <a:t>without public grid power</a:t>
            </a:r>
            <a:endParaRPr lang="en-US" sz="1600" dirty="0"/>
          </a:p>
        </p:txBody>
      </p:sp>
      <p:sp>
        <p:nvSpPr>
          <p:cNvPr id="8" name="Stat hostel light"/>
          <p:cNvSpPr/>
          <p:nvPr/>
        </p:nvSpPr>
        <p:spPr>
          <a:xfrm>
            <a:off x="7589520" y="3200400"/>
            <a:ext cx="4023360" cy="1417320"/>
          </a:xfrm>
          <a:prstGeom prst="roundRect">
            <a:avLst>
              <a:gd name="adj" fmla="val 5161"/>
            </a:avLst>
          </a:prstGeom>
          <a:solidFill>
            <a:schemeClr val="bg1"/>
          </a:solidFill>
          <a:ln w="12700">
            <a:solidFill>
              <a:srgbClr val="CFD9D6"/>
            </a:solidFill>
            <a:prstDash val="solid"/>
          </a:ln>
        </p:spPr>
      </p:sp>
      <p:sp>
        <p:nvSpPr>
          <p:cNvPr id="9" name="Text 6"/>
          <p:cNvSpPr txBox="1"/>
          <p:nvPr/>
        </p:nvSpPr>
        <p:spPr>
          <a:xfrm>
            <a:off x="7818120" y="3383280"/>
            <a:ext cx="3566160" cy="637794"/>
          </a:xfrm>
          <a:prstGeom prst="rect">
            <a:avLst/>
          </a:prstGeom>
          <a:noFill/>
          <a:ln/>
        </p:spPr>
        <p:txBody>
          <a:bodyPr wrap="square" lIns="0" tIns="0" rIns="0" bIns="0" rtlCol="0" anchor="ctr"/>
          <a:lstStyle/>
          <a:p>
            <a:pPr indent="0" marL="0">
              <a:buNone/>
            </a:pPr>
            <a:r>
              <a:rPr lang="en-US" sz="3400" b="1" dirty="0">
                <a:solidFill>
                  <a:schemeClr val="accent2"/>
                </a:solidFill>
              </a:rPr>
              <a:t>1 h + 3 h</a:t>
            </a:r>
            <a:endParaRPr lang="en-US" sz="3400" dirty="0"/>
          </a:p>
        </p:txBody>
      </p:sp>
      <p:sp>
        <p:nvSpPr>
          <p:cNvPr id="10" name="Text 7"/>
          <p:cNvSpPr txBox="1"/>
          <p:nvPr/>
        </p:nvSpPr>
        <p:spPr>
          <a:xfrm>
            <a:off x="7818120" y="4021074"/>
            <a:ext cx="3566160" cy="413766"/>
          </a:xfrm>
          <a:prstGeom prst="rect">
            <a:avLst/>
          </a:prstGeom>
          <a:noFill/>
          <a:ln/>
        </p:spPr>
        <p:txBody>
          <a:bodyPr wrap="square" lIns="0" tIns="0" rIns="0" bIns="0" rtlCol="0" anchor="t"/>
          <a:lstStyle/>
          <a:p>
            <a:pPr indent="0" marL="0">
              <a:buNone/>
            </a:pPr>
            <a:r>
              <a:rPr lang="en-US" sz="1600" dirty="0">
                <a:solidFill>
                  <a:schemeClr val="tx1"/>
                </a:solidFill>
              </a:rPr>
              <a:t>of hostel light, morning and evening</a:t>
            </a:r>
            <a:endParaRPr lang="en-US" sz="1600" dirty="0"/>
          </a:p>
        </p:txBody>
      </p:sp>
      <p:sp>
        <p:nvSpPr>
          <p:cNvPr id="11" name="Pivot callout"/>
          <p:cNvSpPr/>
          <p:nvPr/>
        </p:nvSpPr>
        <p:spPr>
          <a:xfrm>
            <a:off x="548640" y="5029200"/>
            <a:ext cx="11064240" cy="914400"/>
          </a:xfrm>
          <a:prstGeom prst="roundRect">
            <a:avLst>
              <a:gd name="adj" fmla="val 8000"/>
            </a:avLst>
          </a:prstGeom>
          <a:solidFill>
            <a:schemeClr val="tx2"/>
          </a:solidFill>
          <a:ln w="12700">
            <a:solidFill>
              <a:schemeClr val="tx2"/>
            </a:solidFill>
            <a:prstDash val="solid"/>
          </a:ln>
        </p:spPr>
      </p:sp>
      <p:sp>
        <p:nvSpPr>
          <p:cNvPr id="12" name="Text 9"/>
          <p:cNvSpPr txBox="1"/>
          <p:nvPr/>
        </p:nvSpPr>
        <p:spPr>
          <a:xfrm>
            <a:off x="822960" y="5029200"/>
            <a:ext cx="10515600" cy="914400"/>
          </a:xfrm>
          <a:prstGeom prst="rect">
            <a:avLst/>
          </a:prstGeom>
          <a:noFill/>
          <a:ln/>
        </p:spPr>
        <p:txBody>
          <a:bodyPr wrap="square" lIns="0" tIns="0" rIns="0" bIns="0" rtlCol="0" anchor="ctr"/>
          <a:lstStyle/>
          <a:p>
            <a:pPr algn="ctr" indent="0" marL="0">
              <a:buNone/>
            </a:pPr>
            <a:r>
              <a:rPr lang="en-US" sz="2200" dirty="0">
                <a:solidFill>
                  <a:schemeClr val="bg1"/>
                </a:solidFill>
              </a:rPr>
              <a:t>So we turned to a problem we can solve in scope: unsafe drinking water</a:t>
            </a:r>
            <a:endParaRPr lang="en-US" sz="22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What the borehole water tests show</a:t>
            </a:r>
            <a:endParaRPr lang="en-US" sz="3000" dirty="0"/>
          </a:p>
        </p:txBody>
      </p:sp>
      <p:sp>
        <p:nvSpPr>
          <p:cNvPr id="4" name="Stat 1"/>
          <p:cNvSpPr/>
          <p:nvPr/>
        </p:nvSpPr>
        <p:spPr>
          <a:xfrm>
            <a:off x="548640" y="1554480"/>
            <a:ext cx="2606040" cy="2926080"/>
          </a:xfrm>
          <a:prstGeom prst="roundRect">
            <a:avLst>
              <a:gd name="adj" fmla="val 2807"/>
            </a:avLst>
          </a:prstGeom>
          <a:solidFill>
            <a:schemeClr val="bg1"/>
          </a:solidFill>
          <a:ln w="12700">
            <a:solidFill>
              <a:srgbClr val="CFD9D6"/>
            </a:solidFill>
            <a:prstDash val="solid"/>
          </a:ln>
        </p:spPr>
      </p:sp>
      <p:sp>
        <p:nvSpPr>
          <p:cNvPr id="5" name="Text 2"/>
          <p:cNvSpPr txBox="1"/>
          <p:nvPr/>
        </p:nvSpPr>
        <p:spPr>
          <a:xfrm>
            <a:off x="777240" y="1737360"/>
            <a:ext cx="2148840" cy="1316736"/>
          </a:xfrm>
          <a:prstGeom prst="rect">
            <a:avLst/>
          </a:prstGeom>
          <a:noFill/>
          <a:ln/>
        </p:spPr>
        <p:txBody>
          <a:bodyPr wrap="square" lIns="0" tIns="0" rIns="0" bIns="0" rtlCol="0" anchor="ctr"/>
          <a:lstStyle/>
          <a:p>
            <a:pPr indent="0" marL="0">
              <a:buNone/>
            </a:pPr>
            <a:r>
              <a:rPr lang="en-US" sz="2600" b="1" dirty="0">
                <a:solidFill>
                  <a:schemeClr val="accent2"/>
                </a:solidFill>
              </a:rPr>
              <a:t>pH 3.8 to 6.8</a:t>
            </a:r>
            <a:endParaRPr lang="en-US" sz="2600" dirty="0"/>
          </a:p>
        </p:txBody>
      </p:sp>
      <p:sp>
        <p:nvSpPr>
          <p:cNvPr id="6" name="Text 3"/>
          <p:cNvSpPr txBox="1"/>
          <p:nvPr/>
        </p:nvSpPr>
        <p:spPr>
          <a:xfrm>
            <a:off x="777240" y="3054096"/>
            <a:ext cx="2148840" cy="1243584"/>
          </a:xfrm>
          <a:prstGeom prst="rect">
            <a:avLst/>
          </a:prstGeom>
          <a:noFill/>
          <a:ln/>
        </p:spPr>
        <p:txBody>
          <a:bodyPr wrap="square" lIns="0" tIns="0" rIns="0" bIns="0" rtlCol="0" anchor="t"/>
          <a:lstStyle/>
          <a:p>
            <a:pPr indent="0" marL="0">
              <a:buNone/>
            </a:pPr>
            <a:r>
              <a:rPr lang="en-US" sz="1600" dirty="0">
                <a:solidFill>
                  <a:schemeClr val="tx1"/>
                </a:solidFill>
              </a:rPr>
              <a:t>Acidic. The safe range is 6.5 to 8.5 (mean 4.7)</a:t>
            </a:r>
            <a:endParaRPr lang="en-US" sz="1600" dirty="0"/>
          </a:p>
        </p:txBody>
      </p:sp>
      <p:sp>
        <p:nvSpPr>
          <p:cNvPr id="7" name="Stat 2"/>
          <p:cNvSpPr/>
          <p:nvPr/>
        </p:nvSpPr>
        <p:spPr>
          <a:xfrm>
            <a:off x="3364992" y="1554480"/>
            <a:ext cx="2606040" cy="2926080"/>
          </a:xfrm>
          <a:prstGeom prst="roundRect">
            <a:avLst>
              <a:gd name="adj" fmla="val 2807"/>
            </a:avLst>
          </a:prstGeom>
          <a:solidFill>
            <a:schemeClr val="bg1"/>
          </a:solidFill>
          <a:ln w="12700">
            <a:solidFill>
              <a:srgbClr val="CFD9D6"/>
            </a:solidFill>
            <a:prstDash val="solid"/>
          </a:ln>
        </p:spPr>
      </p:sp>
      <p:sp>
        <p:nvSpPr>
          <p:cNvPr id="8" name="Text 5"/>
          <p:cNvSpPr txBox="1"/>
          <p:nvPr/>
        </p:nvSpPr>
        <p:spPr>
          <a:xfrm>
            <a:off x="3593592" y="1737360"/>
            <a:ext cx="2148840" cy="1316736"/>
          </a:xfrm>
          <a:prstGeom prst="rect">
            <a:avLst/>
          </a:prstGeom>
          <a:noFill/>
          <a:ln/>
        </p:spPr>
        <p:txBody>
          <a:bodyPr wrap="square" lIns="0" tIns="0" rIns="0" bIns="0" rtlCol="0" anchor="ctr"/>
          <a:lstStyle/>
          <a:p>
            <a:pPr indent="0" marL="0">
              <a:buNone/>
            </a:pPr>
            <a:r>
              <a:rPr lang="en-US" sz="2600" b="1" dirty="0">
                <a:solidFill>
                  <a:schemeClr val="accent2"/>
                </a:solidFill>
              </a:rPr>
              <a:t>Lead 0.046 mg/L</a:t>
            </a:r>
            <a:endParaRPr lang="en-US" sz="2600" dirty="0"/>
          </a:p>
        </p:txBody>
      </p:sp>
      <p:sp>
        <p:nvSpPr>
          <p:cNvPr id="9" name="Text 6"/>
          <p:cNvSpPr txBox="1"/>
          <p:nvPr/>
        </p:nvSpPr>
        <p:spPr>
          <a:xfrm>
            <a:off x="3593592" y="3054096"/>
            <a:ext cx="2148840" cy="1243584"/>
          </a:xfrm>
          <a:prstGeom prst="rect">
            <a:avLst/>
          </a:prstGeom>
          <a:noFill/>
          <a:ln/>
        </p:spPr>
        <p:txBody>
          <a:bodyPr wrap="square" lIns="0" tIns="0" rIns="0" bIns="0" rtlCol="0" anchor="t"/>
          <a:lstStyle/>
          <a:p>
            <a:pPr indent="0" marL="0">
              <a:buNone/>
            </a:pPr>
            <a:r>
              <a:rPr lang="en-US" sz="1600" dirty="0">
                <a:solidFill>
                  <a:schemeClr val="tx1"/>
                </a:solidFill>
              </a:rPr>
              <a:t>About 4.6 times the 0.01 mg/L limit</a:t>
            </a:r>
            <a:endParaRPr lang="en-US" sz="1600" dirty="0"/>
          </a:p>
        </p:txBody>
      </p:sp>
      <p:sp>
        <p:nvSpPr>
          <p:cNvPr id="10" name="Stat 3"/>
          <p:cNvSpPr/>
          <p:nvPr/>
        </p:nvSpPr>
        <p:spPr>
          <a:xfrm>
            <a:off x="6181344" y="1554480"/>
            <a:ext cx="2606040" cy="2926080"/>
          </a:xfrm>
          <a:prstGeom prst="roundRect">
            <a:avLst>
              <a:gd name="adj" fmla="val 2807"/>
            </a:avLst>
          </a:prstGeom>
          <a:solidFill>
            <a:schemeClr val="bg1"/>
          </a:solidFill>
          <a:ln w="12700">
            <a:solidFill>
              <a:srgbClr val="CFD9D6"/>
            </a:solidFill>
            <a:prstDash val="solid"/>
          </a:ln>
        </p:spPr>
      </p:sp>
      <p:sp>
        <p:nvSpPr>
          <p:cNvPr id="11" name="Text 8"/>
          <p:cNvSpPr txBox="1"/>
          <p:nvPr/>
        </p:nvSpPr>
        <p:spPr>
          <a:xfrm>
            <a:off x="6409944" y="1737360"/>
            <a:ext cx="2148840" cy="1316736"/>
          </a:xfrm>
          <a:prstGeom prst="rect">
            <a:avLst/>
          </a:prstGeom>
          <a:noFill/>
          <a:ln/>
        </p:spPr>
        <p:txBody>
          <a:bodyPr wrap="square" lIns="0" tIns="0" rIns="0" bIns="0" rtlCol="0" anchor="ctr"/>
          <a:lstStyle/>
          <a:p>
            <a:pPr indent="0" marL="0">
              <a:buNone/>
            </a:pPr>
            <a:r>
              <a:rPr lang="en-US" sz="2600" b="1" dirty="0">
                <a:solidFill>
                  <a:schemeClr val="accent2"/>
                </a:solidFill>
              </a:rPr>
              <a:t>Nickel 0.053 mg/L</a:t>
            </a:r>
            <a:endParaRPr lang="en-US" sz="2600" dirty="0"/>
          </a:p>
        </p:txBody>
      </p:sp>
      <p:sp>
        <p:nvSpPr>
          <p:cNvPr id="12" name="Text 9"/>
          <p:cNvSpPr txBox="1"/>
          <p:nvPr/>
        </p:nvSpPr>
        <p:spPr>
          <a:xfrm>
            <a:off x="6409944" y="3054096"/>
            <a:ext cx="2148840" cy="1243584"/>
          </a:xfrm>
          <a:prstGeom prst="rect">
            <a:avLst/>
          </a:prstGeom>
          <a:noFill/>
          <a:ln/>
        </p:spPr>
        <p:txBody>
          <a:bodyPr wrap="square" lIns="0" tIns="0" rIns="0" bIns="0" rtlCol="0" anchor="t"/>
          <a:lstStyle/>
          <a:p>
            <a:pPr indent="0" marL="0">
              <a:buNone/>
            </a:pPr>
            <a:r>
              <a:rPr lang="en-US" sz="1600" dirty="0">
                <a:solidFill>
                  <a:schemeClr val="tx1"/>
                </a:solidFill>
              </a:rPr>
              <a:t>Above the safe limit</a:t>
            </a:r>
            <a:endParaRPr lang="en-US" sz="1600" dirty="0"/>
          </a:p>
        </p:txBody>
      </p:sp>
      <p:sp>
        <p:nvSpPr>
          <p:cNvPr id="13" name="Stat 4"/>
          <p:cNvSpPr/>
          <p:nvPr/>
        </p:nvSpPr>
        <p:spPr>
          <a:xfrm>
            <a:off x="8997696" y="1554480"/>
            <a:ext cx="2606040" cy="2926080"/>
          </a:xfrm>
          <a:prstGeom prst="roundRect">
            <a:avLst>
              <a:gd name="adj" fmla="val 2807"/>
            </a:avLst>
          </a:prstGeom>
          <a:solidFill>
            <a:schemeClr val="bg1"/>
          </a:solidFill>
          <a:ln w="12700">
            <a:solidFill>
              <a:srgbClr val="CFD9D6"/>
            </a:solidFill>
            <a:prstDash val="solid"/>
          </a:ln>
        </p:spPr>
      </p:sp>
      <p:sp>
        <p:nvSpPr>
          <p:cNvPr id="14" name="Text 11"/>
          <p:cNvSpPr txBox="1"/>
          <p:nvPr/>
        </p:nvSpPr>
        <p:spPr>
          <a:xfrm>
            <a:off x="9226296" y="1737360"/>
            <a:ext cx="2148840" cy="1316736"/>
          </a:xfrm>
          <a:prstGeom prst="rect">
            <a:avLst/>
          </a:prstGeom>
          <a:noFill/>
          <a:ln/>
        </p:spPr>
        <p:txBody>
          <a:bodyPr wrap="square" lIns="0" tIns="0" rIns="0" bIns="0" rtlCol="0" anchor="ctr"/>
          <a:lstStyle/>
          <a:p>
            <a:pPr indent="0" marL="0">
              <a:buNone/>
            </a:pPr>
            <a:r>
              <a:rPr lang="en-US" sz="2600" b="1" dirty="0">
                <a:solidFill>
                  <a:schemeClr val="accent2"/>
                </a:solidFill>
              </a:rPr>
              <a:t>HPI 515</a:t>
            </a:r>
            <a:endParaRPr lang="en-US" sz="2600" dirty="0"/>
          </a:p>
        </p:txBody>
      </p:sp>
      <p:sp>
        <p:nvSpPr>
          <p:cNvPr id="15" name="Text 12"/>
          <p:cNvSpPr txBox="1"/>
          <p:nvPr/>
        </p:nvSpPr>
        <p:spPr>
          <a:xfrm>
            <a:off x="9226296" y="3054096"/>
            <a:ext cx="2148840" cy="1243584"/>
          </a:xfrm>
          <a:prstGeom prst="rect">
            <a:avLst/>
          </a:prstGeom>
          <a:noFill/>
          <a:ln/>
        </p:spPr>
        <p:txBody>
          <a:bodyPr wrap="square" lIns="0" tIns="0" rIns="0" bIns="0" rtlCol="0" anchor="t"/>
          <a:lstStyle/>
          <a:p>
            <a:pPr indent="0" marL="0">
              <a:buNone/>
            </a:pPr>
            <a:r>
              <a:rPr lang="en-US" sz="1600" dirty="0">
                <a:solidFill>
                  <a:schemeClr val="tx1"/>
                </a:solidFill>
              </a:rPr>
              <a:t>Heavy metal index (MI 8.038) shows polluted, unsafe water</a:t>
            </a:r>
            <a:endParaRPr lang="en-US" sz="1600" dirty="0"/>
          </a:p>
        </p:txBody>
      </p:sp>
      <p:sp>
        <p:nvSpPr>
          <p:cNvPr id="16" name="Test callout"/>
          <p:cNvSpPr/>
          <p:nvPr/>
        </p:nvSpPr>
        <p:spPr>
          <a:xfrm>
            <a:off x="548640" y="4754880"/>
            <a:ext cx="11064240" cy="822960"/>
          </a:xfrm>
          <a:prstGeom prst="roundRect">
            <a:avLst>
              <a:gd name="adj" fmla="val 8889"/>
            </a:avLst>
          </a:prstGeom>
          <a:solidFill>
            <a:schemeClr val="tx2"/>
          </a:solidFill>
          <a:ln w="12700">
            <a:solidFill>
              <a:schemeClr val="tx2"/>
            </a:solidFill>
            <a:prstDash val="solid"/>
          </a:ln>
        </p:spPr>
      </p:sp>
      <p:sp>
        <p:nvSpPr>
          <p:cNvPr id="17" name="Text 14"/>
          <p:cNvSpPr txBox="1"/>
          <p:nvPr/>
        </p:nvSpPr>
        <p:spPr>
          <a:xfrm>
            <a:off x="822960" y="4754880"/>
            <a:ext cx="10515600" cy="822960"/>
          </a:xfrm>
          <a:prstGeom prst="rect">
            <a:avLst/>
          </a:prstGeom>
          <a:noFill/>
          <a:ln/>
        </p:spPr>
        <p:txBody>
          <a:bodyPr wrap="square" lIns="0" tIns="0" rIns="0" bIns="0" rtlCol="0" anchor="ctr"/>
          <a:lstStyle/>
          <a:p>
            <a:pPr algn="ctr" indent="0" marL="0">
              <a:buNone/>
            </a:pPr>
            <a:r>
              <a:rPr lang="en-US" sz="2000" dirty="0">
                <a:solidFill>
                  <a:schemeClr val="bg1"/>
                </a:solidFill>
              </a:rPr>
              <a:t>This is why the water needs treatment before it reaches the taps</a:t>
            </a:r>
            <a:endParaRPr lang="en-US" sz="2000" dirty="0"/>
          </a:p>
        </p:txBody>
      </p:sp>
      <p:sp>
        <p:nvSpPr>
          <p:cNvPr id="18" name="Text 15"/>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200" dirty="0">
                <a:solidFill>
                  <a:schemeClr val="accent5"/>
                </a:solidFill>
              </a:rPr>
              <a:t>Sources: Salami &amp; Ayinde 2025; Salami, Abel &amp; Olatunji 2025 (our Week 1 and 2 reports)</a:t>
            </a:r>
            <a:endParaRPr lang="en-US" sz="12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Where we started: filter options</a:t>
            </a:r>
            <a:endParaRPr lang="en-US" sz="3000" dirty="0"/>
          </a:p>
        </p:txBody>
      </p:sp>
      <p:sp>
        <p:nvSpPr>
          <p:cNvPr id="4" name="Option 1"/>
          <p:cNvSpPr/>
          <p:nvPr/>
        </p:nvSpPr>
        <p:spPr>
          <a:xfrm>
            <a:off x="548640" y="1554480"/>
            <a:ext cx="5669280" cy="731520"/>
          </a:xfrm>
          <a:prstGeom prst="roundRect">
            <a:avLst>
              <a:gd name="adj" fmla="val 10000"/>
            </a:avLst>
          </a:prstGeom>
          <a:solidFill>
            <a:schemeClr val="bg1"/>
          </a:solidFill>
          <a:ln w="12700">
            <a:solidFill>
              <a:srgbClr val="CFD9D6"/>
            </a:solidFill>
            <a:prstDash val="solid"/>
          </a:ln>
        </p:spPr>
      </p:sp>
      <p:sp>
        <p:nvSpPr>
          <p:cNvPr id="5" name="Text 2"/>
          <p:cNvSpPr txBox="1"/>
          <p:nvPr/>
        </p:nvSpPr>
        <p:spPr>
          <a:xfrm>
            <a:off x="822960" y="1554480"/>
            <a:ext cx="5212080" cy="731520"/>
          </a:xfrm>
          <a:prstGeom prst="rect">
            <a:avLst/>
          </a:prstGeom>
          <a:noFill/>
          <a:ln/>
        </p:spPr>
        <p:txBody>
          <a:bodyPr wrap="square" lIns="0" tIns="0" rIns="0" bIns="0" rtlCol="0" anchor="ctr"/>
          <a:lstStyle/>
          <a:p>
            <a:pPr indent="0" marL="0">
              <a:buNone/>
            </a:pPr>
            <a:r>
              <a:rPr lang="en-US" sz="1800" dirty="0">
                <a:solidFill>
                  <a:schemeClr val="tx1"/>
                </a:solidFill>
              </a:rPr>
              <a:t>Basic faucet filter</a:t>
            </a:r>
            <a:endParaRPr lang="en-US" sz="1800" dirty="0"/>
          </a:p>
        </p:txBody>
      </p:sp>
      <p:sp>
        <p:nvSpPr>
          <p:cNvPr id="6" name="Option 2"/>
          <p:cNvSpPr/>
          <p:nvPr/>
        </p:nvSpPr>
        <p:spPr>
          <a:xfrm>
            <a:off x="548640" y="2423160"/>
            <a:ext cx="5669280" cy="731520"/>
          </a:xfrm>
          <a:prstGeom prst="roundRect">
            <a:avLst>
              <a:gd name="adj" fmla="val 10000"/>
            </a:avLst>
          </a:prstGeom>
          <a:solidFill>
            <a:schemeClr val="bg1"/>
          </a:solidFill>
          <a:ln w="12700">
            <a:solidFill>
              <a:srgbClr val="CFD9D6"/>
            </a:solidFill>
            <a:prstDash val="solid"/>
          </a:ln>
        </p:spPr>
      </p:sp>
      <p:sp>
        <p:nvSpPr>
          <p:cNvPr id="7" name="Text 4"/>
          <p:cNvSpPr txBox="1"/>
          <p:nvPr/>
        </p:nvSpPr>
        <p:spPr>
          <a:xfrm>
            <a:off x="822960" y="2423160"/>
            <a:ext cx="5212080" cy="731520"/>
          </a:xfrm>
          <a:prstGeom prst="rect">
            <a:avLst/>
          </a:prstGeom>
          <a:noFill/>
          <a:ln/>
        </p:spPr>
        <p:txBody>
          <a:bodyPr wrap="square" lIns="0" tIns="0" rIns="0" bIns="0" rtlCol="0" anchor="ctr"/>
          <a:lstStyle/>
          <a:p>
            <a:pPr indent="0" marL="0">
              <a:buNone/>
            </a:pPr>
            <a:r>
              <a:rPr lang="en-US" sz="1800" dirty="0">
                <a:solidFill>
                  <a:schemeClr val="tx1"/>
                </a:solidFill>
              </a:rPr>
              <a:t>Ceramic faucet filter</a:t>
            </a:r>
            <a:endParaRPr lang="en-US" sz="1800" dirty="0"/>
          </a:p>
        </p:txBody>
      </p:sp>
      <p:sp>
        <p:nvSpPr>
          <p:cNvPr id="8" name="Option 3"/>
          <p:cNvSpPr/>
          <p:nvPr/>
        </p:nvSpPr>
        <p:spPr>
          <a:xfrm>
            <a:off x="548640" y="3291840"/>
            <a:ext cx="5669280" cy="731520"/>
          </a:xfrm>
          <a:prstGeom prst="roundRect">
            <a:avLst>
              <a:gd name="adj" fmla="val 10000"/>
            </a:avLst>
          </a:prstGeom>
          <a:solidFill>
            <a:schemeClr val="bg1"/>
          </a:solidFill>
          <a:ln w="12700">
            <a:solidFill>
              <a:srgbClr val="CFD9D6"/>
            </a:solidFill>
            <a:prstDash val="solid"/>
          </a:ln>
        </p:spPr>
      </p:sp>
      <p:sp>
        <p:nvSpPr>
          <p:cNvPr id="9" name="Text 6"/>
          <p:cNvSpPr txBox="1"/>
          <p:nvPr/>
        </p:nvSpPr>
        <p:spPr>
          <a:xfrm>
            <a:off x="822960" y="3291840"/>
            <a:ext cx="5212080" cy="731520"/>
          </a:xfrm>
          <a:prstGeom prst="rect">
            <a:avLst/>
          </a:prstGeom>
          <a:noFill/>
          <a:ln/>
        </p:spPr>
        <p:txBody>
          <a:bodyPr wrap="square" lIns="0" tIns="0" rIns="0" bIns="0" rtlCol="0" anchor="ctr"/>
          <a:lstStyle/>
          <a:p>
            <a:pPr indent="0" marL="0">
              <a:buNone/>
            </a:pPr>
            <a:r>
              <a:rPr lang="en-US" sz="1800" dirty="0">
                <a:solidFill>
                  <a:schemeClr val="tx1"/>
                </a:solidFill>
              </a:rPr>
              <a:t>Gravity multi-stage filter</a:t>
            </a:r>
            <a:endParaRPr lang="en-US" sz="1800" dirty="0"/>
          </a:p>
        </p:txBody>
      </p:sp>
      <p:sp>
        <p:nvSpPr>
          <p:cNvPr id="10" name="Option 4"/>
          <p:cNvSpPr/>
          <p:nvPr/>
        </p:nvSpPr>
        <p:spPr>
          <a:xfrm>
            <a:off x="548640" y="4160520"/>
            <a:ext cx="5669280" cy="731520"/>
          </a:xfrm>
          <a:prstGeom prst="roundRect">
            <a:avLst>
              <a:gd name="adj" fmla="val 10000"/>
            </a:avLst>
          </a:prstGeom>
          <a:solidFill>
            <a:schemeClr val="bg1"/>
          </a:solidFill>
          <a:ln w="12700">
            <a:solidFill>
              <a:srgbClr val="CFD9D6"/>
            </a:solidFill>
            <a:prstDash val="solid"/>
          </a:ln>
        </p:spPr>
      </p:sp>
      <p:sp>
        <p:nvSpPr>
          <p:cNvPr id="11" name="Text 8"/>
          <p:cNvSpPr txBox="1"/>
          <p:nvPr/>
        </p:nvSpPr>
        <p:spPr>
          <a:xfrm>
            <a:off x="822960" y="4160520"/>
            <a:ext cx="5212080" cy="731520"/>
          </a:xfrm>
          <a:prstGeom prst="rect">
            <a:avLst/>
          </a:prstGeom>
          <a:noFill/>
          <a:ln/>
        </p:spPr>
        <p:txBody>
          <a:bodyPr wrap="square" lIns="0" tIns="0" rIns="0" bIns="0" rtlCol="0" anchor="ctr"/>
          <a:lstStyle/>
          <a:p>
            <a:pPr indent="0" marL="0">
              <a:buNone/>
            </a:pPr>
            <a:r>
              <a:rPr lang="en-US" sz="1800" dirty="0">
                <a:solidFill>
                  <a:schemeClr val="tx1"/>
                </a:solidFill>
              </a:rPr>
              <a:t>Chlorine tablets (Aquatabs)</a:t>
            </a:r>
            <a:endParaRPr lang="en-US" sz="1800" dirty="0"/>
          </a:p>
        </p:txBody>
      </p:sp>
      <p:sp>
        <p:nvSpPr>
          <p:cNvPr id="12" name="Recommendation card"/>
          <p:cNvSpPr/>
          <p:nvPr/>
        </p:nvSpPr>
        <p:spPr>
          <a:xfrm>
            <a:off x="6583680" y="1554480"/>
            <a:ext cx="5029200" cy="3337560"/>
          </a:xfrm>
          <a:prstGeom prst="roundRect">
            <a:avLst>
              <a:gd name="adj" fmla="val 2192"/>
            </a:avLst>
          </a:prstGeom>
          <a:solidFill>
            <a:schemeClr val="bg1"/>
          </a:solidFill>
          <a:ln w="12700">
            <a:solidFill>
              <a:srgbClr val="CFD9D6"/>
            </a:solidFill>
            <a:prstDash val="solid"/>
          </a:ln>
        </p:spPr>
      </p:sp>
      <p:sp>
        <p:nvSpPr>
          <p:cNvPr id="13" name="Text 10"/>
          <p:cNvSpPr txBox="1"/>
          <p:nvPr/>
        </p:nvSpPr>
        <p:spPr>
          <a:xfrm>
            <a:off x="6858000" y="1737360"/>
            <a:ext cx="4480560" cy="301752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Week 3 recommendation</a:t>
            </a:r>
            <a:endParaRPr lang="en-US" sz="1700" dirty="0"/>
          </a:p>
          <a:p>
            <a:pPr marL="342900" indent="-342900">
              <a:spcAft>
                <a:spcPts val="800"/>
              </a:spcAft>
              <a:buSzPct val="100000"/>
              <a:buChar char="•"/>
            </a:pPr>
            <a:r>
              <a:rPr lang="en-US" sz="1700" dirty="0">
                <a:solidFill>
                  <a:schemeClr val="tx1"/>
                </a:solidFill>
              </a:rPr>
              <a:t>Short term: low-cost faucet filters (₦3,000 to ₦12,000)</a:t>
            </a:r>
            <a:endParaRPr lang="en-US" sz="1700" dirty="0"/>
          </a:p>
          <a:p>
            <a:pPr marL="342900" indent="-342900">
              <a:buSzPct val="100000"/>
              <a:buChar char="•"/>
            </a:pPr>
            <a:r>
              <a:rPr lang="en-US" sz="1700" dirty="0">
                <a:solidFill>
                  <a:schemeClr val="tx1"/>
                </a:solidFill>
              </a:rPr>
              <a:t>Long term: rehabilitate the mini water works and test the water routinely</a:t>
            </a:r>
            <a:endParaRPr lang="en-US" sz="1700" dirty="0"/>
          </a:p>
        </p:txBody>
      </p:sp>
      <p:sp>
        <p:nvSpPr>
          <p:cNvPr id="14" name="Next-step callout"/>
          <p:cNvSpPr/>
          <p:nvPr/>
        </p:nvSpPr>
        <p:spPr>
          <a:xfrm>
            <a:off x="548640" y="5212080"/>
            <a:ext cx="11064240" cy="914400"/>
          </a:xfrm>
          <a:prstGeom prst="roundRect">
            <a:avLst>
              <a:gd name="adj" fmla="val 8000"/>
            </a:avLst>
          </a:prstGeom>
          <a:solidFill>
            <a:schemeClr val="accent1"/>
          </a:solidFill>
          <a:ln w="12700">
            <a:solidFill>
              <a:schemeClr val="accent1"/>
            </a:solidFill>
            <a:prstDash val="solid"/>
          </a:ln>
        </p:spPr>
      </p:sp>
      <p:sp>
        <p:nvSpPr>
          <p:cNvPr id="15" name="Text 12"/>
          <p:cNvSpPr txBox="1"/>
          <p:nvPr/>
        </p:nvSpPr>
        <p:spPr>
          <a:xfrm>
            <a:off x="822960" y="5212080"/>
            <a:ext cx="10515600" cy="914400"/>
          </a:xfrm>
          <a:prstGeom prst="rect">
            <a:avLst/>
          </a:prstGeom>
          <a:noFill/>
          <a:ln/>
        </p:spPr>
        <p:txBody>
          <a:bodyPr wrap="square" lIns="0" tIns="0" rIns="0" bIns="0" rtlCol="0" anchor="ctr"/>
          <a:lstStyle/>
          <a:p>
            <a:pPr algn="ctr" indent="0" marL="0">
              <a:buNone/>
            </a:pPr>
            <a:r>
              <a:rPr lang="en-US" sz="1900" dirty="0">
                <a:solidFill>
                  <a:schemeClr val="bg1"/>
                </a:solidFill>
              </a:rPr>
              <a:t>Our proof of concept goes further: one unit that deals with dirt, acidity, metals and bacteria together</a:t>
            </a:r>
            <a:endParaRPr lang="en-US" sz="19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Our solution: six stages, no electricity</a:t>
            </a:r>
            <a:endParaRPr lang="en-US" sz="3000" dirty="0"/>
          </a:p>
        </p:txBody>
      </p:sp>
      <p:sp>
        <p:nvSpPr>
          <p:cNvPr id="4" name="Stage 1"/>
          <p:cNvSpPr/>
          <p:nvPr/>
        </p:nvSpPr>
        <p:spPr>
          <a:xfrm>
            <a:off x="548640" y="1554480"/>
            <a:ext cx="1691640" cy="3017520"/>
          </a:xfrm>
          <a:prstGeom prst="roundRect">
            <a:avLst>
              <a:gd name="adj" fmla="val 4324"/>
            </a:avLst>
          </a:prstGeom>
          <a:solidFill>
            <a:schemeClr val="bg1"/>
          </a:solidFill>
          <a:ln w="12700">
            <a:solidFill>
              <a:srgbClr val="CFD9D6"/>
            </a:solidFill>
            <a:prstDash val="solid"/>
          </a:ln>
        </p:spPr>
      </p:sp>
      <p:sp>
        <p:nvSpPr>
          <p:cNvPr id="5" name="Shape 2"/>
          <p:cNvSpPr/>
          <p:nvPr/>
        </p:nvSpPr>
        <p:spPr>
          <a:xfrm>
            <a:off x="548640" y="1554480"/>
            <a:ext cx="1691640" cy="502920"/>
          </a:xfrm>
          <a:prstGeom prst="rect">
            <a:avLst/>
          </a:prstGeom>
          <a:solidFill>
            <a:schemeClr val="accent4"/>
          </a:solidFill>
          <a:ln w="12700">
            <a:solidFill>
              <a:schemeClr val="accent4"/>
            </a:solidFill>
            <a:prstDash val="solid"/>
          </a:ln>
        </p:spPr>
      </p:sp>
      <p:sp>
        <p:nvSpPr>
          <p:cNvPr id="6" name="Text 3"/>
          <p:cNvSpPr txBox="1"/>
          <p:nvPr/>
        </p:nvSpPr>
        <p:spPr>
          <a:xfrm>
            <a:off x="548640" y="1554480"/>
            <a:ext cx="1691640" cy="50292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685800" y="2240280"/>
            <a:ext cx="1417320" cy="914400"/>
          </a:xfrm>
          <a:prstGeom prst="rect">
            <a:avLst/>
          </a:prstGeom>
          <a:noFill/>
          <a:ln/>
        </p:spPr>
        <p:txBody>
          <a:bodyPr wrap="square" lIns="0" tIns="0" rIns="0" bIns="0" rtlCol="0" anchor="t"/>
          <a:lstStyle/>
          <a:p>
            <a:pPr indent="0" marL="0">
              <a:buNone/>
            </a:pPr>
            <a:r>
              <a:rPr lang="en-US" sz="1600" b="1" dirty="0">
                <a:solidFill>
                  <a:schemeClr val="tx1"/>
                </a:solidFill>
              </a:rPr>
              <a:t>Settling drum</a:t>
            </a:r>
            <a:endParaRPr lang="en-US" sz="1600" dirty="0"/>
          </a:p>
        </p:txBody>
      </p:sp>
      <p:sp>
        <p:nvSpPr>
          <p:cNvPr id="8" name="Text 5"/>
          <p:cNvSpPr txBox="1"/>
          <p:nvPr/>
        </p:nvSpPr>
        <p:spPr>
          <a:xfrm>
            <a:off x="685800" y="3246120"/>
            <a:ext cx="1417320" cy="1097280"/>
          </a:xfrm>
          <a:prstGeom prst="rect">
            <a:avLst/>
          </a:prstGeom>
          <a:noFill/>
          <a:ln/>
        </p:spPr>
        <p:txBody>
          <a:bodyPr wrap="square" lIns="0" tIns="0" rIns="0" bIns="0" rtlCol="0" anchor="t"/>
          <a:lstStyle/>
          <a:p>
            <a:pPr indent="0" marL="0">
              <a:buNone/>
            </a:pPr>
            <a:r>
              <a:rPr lang="en-US" sz="1400" dirty="0">
                <a:solidFill>
                  <a:schemeClr val="accent5"/>
                </a:solidFill>
              </a:rPr>
              <a:t>Heavy dirt sinks out</a:t>
            </a:r>
            <a:endParaRPr lang="en-US" sz="1400" dirty="0"/>
          </a:p>
        </p:txBody>
      </p:sp>
      <p:sp>
        <p:nvSpPr>
          <p:cNvPr id="9" name="Stage 2"/>
          <p:cNvSpPr/>
          <p:nvPr/>
        </p:nvSpPr>
        <p:spPr>
          <a:xfrm>
            <a:off x="2423160" y="1554480"/>
            <a:ext cx="1691640" cy="3017520"/>
          </a:xfrm>
          <a:prstGeom prst="roundRect">
            <a:avLst>
              <a:gd name="adj" fmla="val 4324"/>
            </a:avLst>
          </a:prstGeom>
          <a:solidFill>
            <a:schemeClr val="bg1"/>
          </a:solidFill>
          <a:ln w="12700">
            <a:solidFill>
              <a:srgbClr val="CFD9D6"/>
            </a:solidFill>
            <a:prstDash val="solid"/>
          </a:ln>
        </p:spPr>
      </p:sp>
      <p:sp>
        <p:nvSpPr>
          <p:cNvPr id="10" name="Shape 7"/>
          <p:cNvSpPr/>
          <p:nvPr/>
        </p:nvSpPr>
        <p:spPr>
          <a:xfrm>
            <a:off x="2423160" y="1554480"/>
            <a:ext cx="1691640" cy="502920"/>
          </a:xfrm>
          <a:prstGeom prst="rect">
            <a:avLst/>
          </a:prstGeom>
          <a:solidFill>
            <a:schemeClr val="accent6"/>
          </a:solidFill>
          <a:ln w="12700">
            <a:solidFill>
              <a:schemeClr val="accent6"/>
            </a:solidFill>
            <a:prstDash val="solid"/>
          </a:ln>
        </p:spPr>
      </p:sp>
      <p:sp>
        <p:nvSpPr>
          <p:cNvPr id="11" name="Text 8"/>
          <p:cNvSpPr txBox="1"/>
          <p:nvPr/>
        </p:nvSpPr>
        <p:spPr>
          <a:xfrm>
            <a:off x="2423160" y="1554480"/>
            <a:ext cx="1691640" cy="50292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12" name="Text 9"/>
          <p:cNvSpPr txBox="1"/>
          <p:nvPr/>
        </p:nvSpPr>
        <p:spPr>
          <a:xfrm>
            <a:off x="2560320" y="2240280"/>
            <a:ext cx="1417320" cy="914400"/>
          </a:xfrm>
          <a:prstGeom prst="rect">
            <a:avLst/>
          </a:prstGeom>
          <a:noFill/>
          <a:ln/>
        </p:spPr>
        <p:txBody>
          <a:bodyPr wrap="square" lIns="0" tIns="0" rIns="0" bIns="0" rtlCol="0" anchor="t"/>
          <a:lstStyle/>
          <a:p>
            <a:pPr indent="0" marL="0">
              <a:buNone/>
            </a:pPr>
            <a:r>
              <a:rPr lang="en-US" sz="1600" b="1" dirty="0">
                <a:solidFill>
                  <a:schemeClr val="tx1"/>
                </a:solidFill>
              </a:rPr>
              <a:t>Limestone column</a:t>
            </a:r>
            <a:endParaRPr lang="en-US" sz="1600" dirty="0"/>
          </a:p>
        </p:txBody>
      </p:sp>
      <p:sp>
        <p:nvSpPr>
          <p:cNvPr id="13" name="Text 10"/>
          <p:cNvSpPr txBox="1"/>
          <p:nvPr/>
        </p:nvSpPr>
        <p:spPr>
          <a:xfrm>
            <a:off x="2560320" y="3246120"/>
            <a:ext cx="1417320" cy="1097280"/>
          </a:xfrm>
          <a:prstGeom prst="rect">
            <a:avLst/>
          </a:prstGeom>
          <a:noFill/>
          <a:ln/>
        </p:spPr>
        <p:txBody>
          <a:bodyPr wrap="square" lIns="0" tIns="0" rIns="0" bIns="0" rtlCol="0" anchor="t"/>
          <a:lstStyle/>
          <a:p>
            <a:pPr indent="0" marL="0">
              <a:buNone/>
            </a:pPr>
            <a:r>
              <a:rPr lang="en-US" sz="1400" dirty="0">
                <a:solidFill>
                  <a:schemeClr val="accent5"/>
                </a:solidFill>
              </a:rPr>
              <a:t>Neutralises the acidity</a:t>
            </a:r>
            <a:endParaRPr lang="en-US" sz="1400" dirty="0"/>
          </a:p>
        </p:txBody>
      </p:sp>
      <p:sp>
        <p:nvSpPr>
          <p:cNvPr id="14" name="Stage 3"/>
          <p:cNvSpPr/>
          <p:nvPr/>
        </p:nvSpPr>
        <p:spPr>
          <a:xfrm>
            <a:off x="4297680" y="1554480"/>
            <a:ext cx="1691640" cy="3017520"/>
          </a:xfrm>
          <a:prstGeom prst="roundRect">
            <a:avLst>
              <a:gd name="adj" fmla="val 4324"/>
            </a:avLst>
          </a:prstGeom>
          <a:solidFill>
            <a:schemeClr val="bg1"/>
          </a:solidFill>
          <a:ln w="12700">
            <a:solidFill>
              <a:srgbClr val="CFD9D6"/>
            </a:solidFill>
            <a:prstDash val="solid"/>
          </a:ln>
        </p:spPr>
      </p:sp>
      <p:sp>
        <p:nvSpPr>
          <p:cNvPr id="15" name="Shape 12"/>
          <p:cNvSpPr/>
          <p:nvPr/>
        </p:nvSpPr>
        <p:spPr>
          <a:xfrm>
            <a:off x="4297680" y="1554480"/>
            <a:ext cx="1691640" cy="502920"/>
          </a:xfrm>
          <a:prstGeom prst="rect">
            <a:avLst/>
          </a:prstGeom>
          <a:solidFill>
            <a:schemeClr val="accent5"/>
          </a:solidFill>
          <a:ln w="12700">
            <a:solidFill>
              <a:schemeClr val="accent5"/>
            </a:solidFill>
            <a:prstDash val="solid"/>
          </a:ln>
        </p:spPr>
      </p:sp>
      <p:sp>
        <p:nvSpPr>
          <p:cNvPr id="16" name="Text 13"/>
          <p:cNvSpPr txBox="1"/>
          <p:nvPr/>
        </p:nvSpPr>
        <p:spPr>
          <a:xfrm>
            <a:off x="4297680" y="1554480"/>
            <a:ext cx="1691640" cy="50292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4"/>
          <p:cNvSpPr txBox="1"/>
          <p:nvPr/>
        </p:nvSpPr>
        <p:spPr>
          <a:xfrm>
            <a:off x="4434840" y="2240280"/>
            <a:ext cx="1417320" cy="914400"/>
          </a:xfrm>
          <a:prstGeom prst="rect">
            <a:avLst/>
          </a:prstGeom>
          <a:noFill/>
          <a:ln/>
        </p:spPr>
        <p:txBody>
          <a:bodyPr wrap="square" lIns="0" tIns="0" rIns="0" bIns="0" rtlCol="0" anchor="t"/>
          <a:lstStyle/>
          <a:p>
            <a:pPr indent="0" marL="0">
              <a:buNone/>
            </a:pPr>
            <a:r>
              <a:rPr lang="en-US" sz="1600" b="1" dirty="0">
                <a:solidFill>
                  <a:schemeClr val="tx1"/>
                </a:solidFill>
              </a:rPr>
              <a:t>Sand and gravel filter</a:t>
            </a:r>
            <a:endParaRPr lang="en-US" sz="1600" dirty="0"/>
          </a:p>
        </p:txBody>
      </p:sp>
      <p:sp>
        <p:nvSpPr>
          <p:cNvPr id="18" name="Text 15"/>
          <p:cNvSpPr txBox="1"/>
          <p:nvPr/>
        </p:nvSpPr>
        <p:spPr>
          <a:xfrm>
            <a:off x="4434840" y="3246120"/>
            <a:ext cx="1417320" cy="1097280"/>
          </a:xfrm>
          <a:prstGeom prst="rect">
            <a:avLst/>
          </a:prstGeom>
          <a:noFill/>
          <a:ln/>
        </p:spPr>
        <p:txBody>
          <a:bodyPr wrap="square" lIns="0" tIns="0" rIns="0" bIns="0" rtlCol="0" anchor="t"/>
          <a:lstStyle/>
          <a:p>
            <a:pPr indent="0" marL="0">
              <a:buNone/>
            </a:pPr>
            <a:r>
              <a:rPr lang="en-US" sz="1400" dirty="0">
                <a:solidFill>
                  <a:schemeClr val="accent5"/>
                </a:solidFill>
              </a:rPr>
              <a:t>Catches fine particles</a:t>
            </a:r>
            <a:endParaRPr lang="en-US" sz="1400" dirty="0"/>
          </a:p>
        </p:txBody>
      </p:sp>
      <p:sp>
        <p:nvSpPr>
          <p:cNvPr id="19" name="Stage 4"/>
          <p:cNvSpPr/>
          <p:nvPr/>
        </p:nvSpPr>
        <p:spPr>
          <a:xfrm>
            <a:off x="6172200" y="1554480"/>
            <a:ext cx="1691640" cy="3017520"/>
          </a:xfrm>
          <a:prstGeom prst="roundRect">
            <a:avLst>
              <a:gd name="adj" fmla="val 4324"/>
            </a:avLst>
          </a:prstGeom>
          <a:solidFill>
            <a:schemeClr val="bg1"/>
          </a:solidFill>
          <a:ln w="12700">
            <a:solidFill>
              <a:srgbClr val="CFD9D6"/>
            </a:solidFill>
            <a:prstDash val="solid"/>
          </a:ln>
        </p:spPr>
      </p:sp>
      <p:sp>
        <p:nvSpPr>
          <p:cNvPr id="20" name="Shape 17"/>
          <p:cNvSpPr/>
          <p:nvPr/>
        </p:nvSpPr>
        <p:spPr>
          <a:xfrm>
            <a:off x="6172200" y="1554480"/>
            <a:ext cx="1691640" cy="502920"/>
          </a:xfrm>
          <a:prstGeom prst="rect">
            <a:avLst/>
          </a:prstGeom>
          <a:solidFill>
            <a:schemeClr val="accent1"/>
          </a:solidFill>
          <a:ln w="12700">
            <a:solidFill>
              <a:schemeClr val="accent1"/>
            </a:solidFill>
            <a:prstDash val="solid"/>
          </a:ln>
        </p:spPr>
      </p:sp>
      <p:sp>
        <p:nvSpPr>
          <p:cNvPr id="21" name="Text 18"/>
          <p:cNvSpPr txBox="1"/>
          <p:nvPr/>
        </p:nvSpPr>
        <p:spPr>
          <a:xfrm>
            <a:off x="6172200" y="1554480"/>
            <a:ext cx="1691640" cy="50292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19"/>
          <p:cNvSpPr txBox="1"/>
          <p:nvPr/>
        </p:nvSpPr>
        <p:spPr>
          <a:xfrm>
            <a:off x="6309360" y="2240280"/>
            <a:ext cx="1417320" cy="914400"/>
          </a:xfrm>
          <a:prstGeom prst="rect">
            <a:avLst/>
          </a:prstGeom>
          <a:noFill/>
          <a:ln/>
        </p:spPr>
        <p:txBody>
          <a:bodyPr wrap="square" lIns="0" tIns="0" rIns="0" bIns="0" rtlCol="0" anchor="t"/>
          <a:lstStyle/>
          <a:p>
            <a:pPr indent="0" marL="0">
              <a:buNone/>
            </a:pPr>
            <a:r>
              <a:rPr lang="en-US" sz="1600" b="1" dirty="0">
                <a:solidFill>
                  <a:schemeClr val="tx1"/>
                </a:solidFill>
              </a:rPr>
              <a:t>Activated carbon column</a:t>
            </a:r>
            <a:endParaRPr lang="en-US" sz="1600" dirty="0"/>
          </a:p>
        </p:txBody>
      </p:sp>
      <p:sp>
        <p:nvSpPr>
          <p:cNvPr id="23" name="Text 20"/>
          <p:cNvSpPr txBox="1"/>
          <p:nvPr/>
        </p:nvSpPr>
        <p:spPr>
          <a:xfrm>
            <a:off x="6309360" y="3246120"/>
            <a:ext cx="1417320" cy="1097280"/>
          </a:xfrm>
          <a:prstGeom prst="rect">
            <a:avLst/>
          </a:prstGeom>
          <a:noFill/>
          <a:ln/>
        </p:spPr>
        <p:txBody>
          <a:bodyPr wrap="square" lIns="0" tIns="0" rIns="0" bIns="0" rtlCol="0" anchor="t"/>
          <a:lstStyle/>
          <a:p>
            <a:pPr indent="0" marL="0">
              <a:buNone/>
            </a:pPr>
            <a:r>
              <a:rPr lang="en-US" sz="1400" dirty="0">
                <a:solidFill>
                  <a:schemeClr val="accent5"/>
                </a:solidFill>
              </a:rPr>
              <a:t>Adsorbs metals and odours</a:t>
            </a:r>
            <a:endParaRPr lang="en-US" sz="1400" dirty="0"/>
          </a:p>
        </p:txBody>
      </p:sp>
      <p:sp>
        <p:nvSpPr>
          <p:cNvPr id="24" name="Stage 5"/>
          <p:cNvSpPr/>
          <p:nvPr/>
        </p:nvSpPr>
        <p:spPr>
          <a:xfrm>
            <a:off x="8046720" y="1554480"/>
            <a:ext cx="1691640" cy="3017520"/>
          </a:xfrm>
          <a:prstGeom prst="roundRect">
            <a:avLst>
              <a:gd name="adj" fmla="val 4324"/>
            </a:avLst>
          </a:prstGeom>
          <a:solidFill>
            <a:schemeClr val="bg1"/>
          </a:solidFill>
          <a:ln w="12700">
            <a:solidFill>
              <a:srgbClr val="CFD9D6"/>
            </a:solidFill>
            <a:prstDash val="solid"/>
          </a:ln>
        </p:spPr>
      </p:sp>
      <p:sp>
        <p:nvSpPr>
          <p:cNvPr id="25" name="Shape 22"/>
          <p:cNvSpPr/>
          <p:nvPr/>
        </p:nvSpPr>
        <p:spPr>
          <a:xfrm>
            <a:off x="8046720" y="1554480"/>
            <a:ext cx="1691640" cy="502920"/>
          </a:xfrm>
          <a:prstGeom prst="rect">
            <a:avLst/>
          </a:prstGeom>
          <a:solidFill>
            <a:schemeClr val="accent3"/>
          </a:solidFill>
          <a:ln w="12700">
            <a:solidFill>
              <a:schemeClr val="accent3"/>
            </a:solidFill>
            <a:prstDash val="solid"/>
          </a:ln>
        </p:spPr>
      </p:sp>
      <p:sp>
        <p:nvSpPr>
          <p:cNvPr id="26" name="Text 23"/>
          <p:cNvSpPr txBox="1"/>
          <p:nvPr/>
        </p:nvSpPr>
        <p:spPr>
          <a:xfrm>
            <a:off x="8046720" y="1554480"/>
            <a:ext cx="1691640" cy="50292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Text 24"/>
          <p:cNvSpPr txBox="1"/>
          <p:nvPr/>
        </p:nvSpPr>
        <p:spPr>
          <a:xfrm>
            <a:off x="8183880" y="2240280"/>
            <a:ext cx="1417320" cy="914400"/>
          </a:xfrm>
          <a:prstGeom prst="rect">
            <a:avLst/>
          </a:prstGeom>
          <a:noFill/>
          <a:ln/>
        </p:spPr>
        <p:txBody>
          <a:bodyPr wrap="square" lIns="0" tIns="0" rIns="0" bIns="0" rtlCol="0" anchor="t"/>
          <a:lstStyle/>
          <a:p>
            <a:pPr indent="0" marL="0">
              <a:buNone/>
            </a:pPr>
            <a:r>
              <a:rPr lang="en-US" sz="1600" b="1" dirty="0">
                <a:solidFill>
                  <a:schemeClr val="tx1"/>
                </a:solidFill>
              </a:rPr>
              <a:t>Chlorine disinfection</a:t>
            </a:r>
            <a:endParaRPr lang="en-US" sz="1600" dirty="0"/>
          </a:p>
        </p:txBody>
      </p:sp>
      <p:sp>
        <p:nvSpPr>
          <p:cNvPr id="28" name="Text 25"/>
          <p:cNvSpPr txBox="1"/>
          <p:nvPr/>
        </p:nvSpPr>
        <p:spPr>
          <a:xfrm>
            <a:off x="8183880" y="3246120"/>
            <a:ext cx="1417320" cy="1097280"/>
          </a:xfrm>
          <a:prstGeom prst="rect">
            <a:avLst/>
          </a:prstGeom>
          <a:noFill/>
          <a:ln/>
        </p:spPr>
        <p:txBody>
          <a:bodyPr wrap="square" lIns="0" tIns="0" rIns="0" bIns="0" rtlCol="0" anchor="t"/>
          <a:lstStyle/>
          <a:p>
            <a:pPr indent="0" marL="0">
              <a:buNone/>
            </a:pPr>
            <a:r>
              <a:rPr lang="en-US" sz="1400" dirty="0">
                <a:solidFill>
                  <a:schemeClr val="accent5"/>
                </a:solidFill>
              </a:rPr>
              <a:t>Kills bacteria</a:t>
            </a:r>
            <a:endParaRPr lang="en-US" sz="1400" dirty="0"/>
          </a:p>
        </p:txBody>
      </p:sp>
      <p:sp>
        <p:nvSpPr>
          <p:cNvPr id="29" name="Stage 6"/>
          <p:cNvSpPr/>
          <p:nvPr/>
        </p:nvSpPr>
        <p:spPr>
          <a:xfrm>
            <a:off x="9921240" y="1554480"/>
            <a:ext cx="1691640" cy="3017520"/>
          </a:xfrm>
          <a:prstGeom prst="roundRect">
            <a:avLst>
              <a:gd name="adj" fmla="val 4324"/>
            </a:avLst>
          </a:prstGeom>
          <a:solidFill>
            <a:schemeClr val="bg1"/>
          </a:solidFill>
          <a:ln w="12700">
            <a:solidFill>
              <a:srgbClr val="CFD9D6"/>
            </a:solidFill>
            <a:prstDash val="solid"/>
          </a:ln>
        </p:spPr>
      </p:sp>
      <p:sp>
        <p:nvSpPr>
          <p:cNvPr id="30" name="Shape 27"/>
          <p:cNvSpPr/>
          <p:nvPr/>
        </p:nvSpPr>
        <p:spPr>
          <a:xfrm>
            <a:off x="9921240" y="1554480"/>
            <a:ext cx="1691640" cy="502920"/>
          </a:xfrm>
          <a:prstGeom prst="rect">
            <a:avLst/>
          </a:prstGeom>
          <a:solidFill>
            <a:schemeClr val="accent2"/>
          </a:solidFill>
          <a:ln w="12700">
            <a:solidFill>
              <a:schemeClr val="accent2"/>
            </a:solidFill>
            <a:prstDash val="solid"/>
          </a:ln>
        </p:spPr>
      </p:sp>
      <p:sp>
        <p:nvSpPr>
          <p:cNvPr id="31" name="Text 28"/>
          <p:cNvSpPr txBox="1"/>
          <p:nvPr/>
        </p:nvSpPr>
        <p:spPr>
          <a:xfrm>
            <a:off x="9921240" y="1554480"/>
            <a:ext cx="1691640" cy="50292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2" name="Text 29"/>
          <p:cNvSpPr txBox="1"/>
          <p:nvPr/>
        </p:nvSpPr>
        <p:spPr>
          <a:xfrm>
            <a:off x="10058400" y="2240280"/>
            <a:ext cx="1417320" cy="914400"/>
          </a:xfrm>
          <a:prstGeom prst="rect">
            <a:avLst/>
          </a:prstGeom>
          <a:noFill/>
          <a:ln/>
        </p:spPr>
        <p:txBody>
          <a:bodyPr wrap="square" lIns="0" tIns="0" rIns="0" bIns="0" rtlCol="0" anchor="t"/>
          <a:lstStyle/>
          <a:p>
            <a:pPr indent="0" marL="0">
              <a:buNone/>
            </a:pPr>
            <a:r>
              <a:rPr lang="en-US" sz="1600" b="1" dirty="0">
                <a:solidFill>
                  <a:schemeClr val="tx1"/>
                </a:solidFill>
              </a:rPr>
              <a:t>Covered storage with tap</a:t>
            </a:r>
            <a:endParaRPr lang="en-US" sz="1600" dirty="0"/>
          </a:p>
        </p:txBody>
      </p:sp>
      <p:sp>
        <p:nvSpPr>
          <p:cNvPr id="33" name="Text 30"/>
          <p:cNvSpPr txBox="1"/>
          <p:nvPr/>
        </p:nvSpPr>
        <p:spPr>
          <a:xfrm>
            <a:off x="10058400" y="3246120"/>
            <a:ext cx="1417320" cy="1097280"/>
          </a:xfrm>
          <a:prstGeom prst="rect">
            <a:avLst/>
          </a:prstGeom>
          <a:noFill/>
          <a:ln/>
        </p:spPr>
        <p:txBody>
          <a:bodyPr wrap="square" lIns="0" tIns="0" rIns="0" bIns="0" rtlCol="0" anchor="t"/>
          <a:lstStyle/>
          <a:p>
            <a:pPr indent="0" marL="0">
              <a:buNone/>
            </a:pPr>
            <a:r>
              <a:rPr lang="en-US" sz="1400" dirty="0">
                <a:solidFill>
                  <a:schemeClr val="accent5"/>
                </a:solidFill>
              </a:rPr>
              <a:t>Keeps clean water safe</a:t>
            </a:r>
            <a:endParaRPr lang="en-US" sz="1400" dirty="0"/>
          </a:p>
        </p:txBody>
      </p:sp>
      <p:sp>
        <p:nvSpPr>
          <p:cNvPr id="34" name="Facts bar"/>
          <p:cNvSpPr/>
          <p:nvPr/>
        </p:nvSpPr>
        <p:spPr>
          <a:xfrm>
            <a:off x="548640" y="4892040"/>
            <a:ext cx="11064240" cy="1097280"/>
          </a:xfrm>
          <a:prstGeom prst="roundRect">
            <a:avLst>
              <a:gd name="adj" fmla="val 6667"/>
            </a:avLst>
          </a:prstGeom>
          <a:solidFill>
            <a:schemeClr val="tx2"/>
          </a:solidFill>
          <a:ln w="12700">
            <a:solidFill>
              <a:schemeClr val="tx2"/>
            </a:solidFill>
            <a:prstDash val="solid"/>
          </a:ln>
        </p:spPr>
      </p:sp>
      <p:sp>
        <p:nvSpPr>
          <p:cNvPr id="35" name="Text 32"/>
          <p:cNvSpPr txBox="1"/>
          <p:nvPr/>
        </p:nvSpPr>
        <p:spPr>
          <a:xfrm>
            <a:off x="822960" y="4892040"/>
            <a:ext cx="10515600" cy="1097280"/>
          </a:xfrm>
          <a:prstGeom prst="rect">
            <a:avLst/>
          </a:prstGeom>
          <a:noFill/>
          <a:ln/>
        </p:spPr>
        <p:txBody>
          <a:bodyPr wrap="square" lIns="0" tIns="0" rIns="0" bIns="0" rtlCol="0" anchor="ctr"/>
          <a:lstStyle/>
          <a:p>
            <a:pPr algn="ctr" indent="0" marL="0">
              <a:buNone/>
            </a:pPr>
            <a:r>
              <a:rPr lang="en-US" sz="1700" dirty="0">
                <a:solidFill>
                  <a:schemeClr val="bg1"/>
                </a:solidFill>
              </a:rPr>
              <a:t>Gravity-fed, no electricity  |  about 20 L/h  |  about 160 L a day for around 40 people  |  estimated cost ₦150,000 to ₦350,000</a:t>
            </a:r>
            <a:endParaRPr lang="en-US" sz="17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How it fits the campus water system</a:t>
            </a:r>
            <a:endParaRPr lang="en-US" sz="3000" dirty="0"/>
          </a:p>
        </p:txBody>
      </p:sp>
      <p:sp>
        <p:nvSpPr>
          <p:cNvPr id="4" name="Flow Borehole"/>
          <p:cNvSpPr/>
          <p:nvPr/>
        </p:nvSpPr>
        <p:spPr>
          <a:xfrm>
            <a:off x="548640" y="1828800"/>
            <a:ext cx="1828800" cy="1188720"/>
          </a:xfrm>
          <a:prstGeom prst="roundRect">
            <a:avLst>
              <a:gd name="adj" fmla="val 6154"/>
            </a:avLst>
          </a:prstGeom>
          <a:solidFill>
            <a:schemeClr val="bg1"/>
          </a:solidFill>
          <a:ln w="12700">
            <a:solidFill>
              <a:srgbClr val="CFD9D6"/>
            </a:solidFill>
            <a:prstDash val="solid"/>
          </a:ln>
        </p:spPr>
      </p:sp>
      <p:sp>
        <p:nvSpPr>
          <p:cNvPr id="5" name="Text 2"/>
          <p:cNvSpPr txBox="1"/>
          <p:nvPr/>
        </p:nvSpPr>
        <p:spPr>
          <a:xfrm>
            <a:off x="640080" y="1828800"/>
            <a:ext cx="1645920" cy="1188720"/>
          </a:xfrm>
          <a:prstGeom prst="rect">
            <a:avLst/>
          </a:prstGeom>
          <a:noFill/>
          <a:ln/>
        </p:spPr>
        <p:txBody>
          <a:bodyPr wrap="square" lIns="0" tIns="0" rIns="0" bIns="0" rtlCol="0" anchor="ctr"/>
          <a:lstStyle/>
          <a:p>
            <a:pPr algn="ctr" indent="0" marL="0">
              <a:buNone/>
            </a:pPr>
            <a:r>
              <a:rPr lang="en-US" sz="1700" b="1" dirty="0">
                <a:solidFill>
                  <a:schemeClr val="tx1"/>
                </a:solidFill>
              </a:rPr>
              <a:t>Borehole</a:t>
            </a:r>
            <a:endParaRPr lang="en-US" sz="1700" dirty="0"/>
          </a:p>
        </p:txBody>
      </p:sp>
      <p:sp>
        <p:nvSpPr>
          <p:cNvPr id="6" name="Shape 3"/>
          <p:cNvSpPr/>
          <p:nvPr/>
        </p:nvSpPr>
        <p:spPr>
          <a:xfrm>
            <a:off x="2441448" y="2286000"/>
            <a:ext cx="347472" cy="274320"/>
          </a:xfrm>
          <a:prstGeom prst="rightArrow">
            <a:avLst/>
          </a:prstGeom>
          <a:solidFill>
            <a:schemeClr val="accent5"/>
          </a:solidFill>
          <a:ln w="12700">
            <a:solidFill>
              <a:schemeClr val="accent5"/>
            </a:solidFill>
            <a:prstDash val="solid"/>
          </a:ln>
        </p:spPr>
      </p:sp>
      <p:sp>
        <p:nvSpPr>
          <p:cNvPr id="7" name="Flow Pump"/>
          <p:cNvSpPr/>
          <p:nvPr/>
        </p:nvSpPr>
        <p:spPr>
          <a:xfrm>
            <a:off x="2857500" y="1828800"/>
            <a:ext cx="1828800" cy="1188720"/>
          </a:xfrm>
          <a:prstGeom prst="roundRect">
            <a:avLst>
              <a:gd name="adj" fmla="val 6154"/>
            </a:avLst>
          </a:prstGeom>
          <a:solidFill>
            <a:schemeClr val="bg1"/>
          </a:solidFill>
          <a:ln w="12700">
            <a:solidFill>
              <a:srgbClr val="CFD9D6"/>
            </a:solidFill>
            <a:prstDash val="solid"/>
          </a:ln>
        </p:spPr>
      </p:sp>
      <p:sp>
        <p:nvSpPr>
          <p:cNvPr id="8" name="Text 5"/>
          <p:cNvSpPr txBox="1"/>
          <p:nvPr/>
        </p:nvSpPr>
        <p:spPr>
          <a:xfrm>
            <a:off x="2948940" y="1828800"/>
            <a:ext cx="1645920" cy="1188720"/>
          </a:xfrm>
          <a:prstGeom prst="rect">
            <a:avLst/>
          </a:prstGeom>
          <a:noFill/>
          <a:ln/>
        </p:spPr>
        <p:txBody>
          <a:bodyPr wrap="square" lIns="0" tIns="0" rIns="0" bIns="0" rtlCol="0" anchor="ctr"/>
          <a:lstStyle/>
          <a:p>
            <a:pPr algn="ctr" indent="0" marL="0">
              <a:buNone/>
            </a:pPr>
            <a:r>
              <a:rPr lang="en-US" sz="1700" b="1" dirty="0">
                <a:solidFill>
                  <a:schemeClr val="tx1"/>
                </a:solidFill>
              </a:rPr>
              <a:t>Pump</a:t>
            </a:r>
            <a:endParaRPr lang="en-US" sz="1700" dirty="0"/>
          </a:p>
        </p:txBody>
      </p:sp>
      <p:sp>
        <p:nvSpPr>
          <p:cNvPr id="9" name="Shape 6"/>
          <p:cNvSpPr/>
          <p:nvPr/>
        </p:nvSpPr>
        <p:spPr>
          <a:xfrm>
            <a:off x="4750308" y="2286000"/>
            <a:ext cx="347472" cy="274320"/>
          </a:xfrm>
          <a:prstGeom prst="rightArrow">
            <a:avLst/>
          </a:prstGeom>
          <a:solidFill>
            <a:schemeClr val="accent5"/>
          </a:solidFill>
          <a:ln w="12700">
            <a:solidFill>
              <a:schemeClr val="accent5"/>
            </a:solidFill>
            <a:prstDash val="solid"/>
          </a:ln>
        </p:spPr>
      </p:sp>
      <p:sp>
        <p:nvSpPr>
          <p:cNvPr id="10" name="Flow Storage tank"/>
          <p:cNvSpPr/>
          <p:nvPr/>
        </p:nvSpPr>
        <p:spPr>
          <a:xfrm>
            <a:off x="5166360" y="1828800"/>
            <a:ext cx="1828800" cy="1188720"/>
          </a:xfrm>
          <a:prstGeom prst="roundRect">
            <a:avLst>
              <a:gd name="adj" fmla="val 6154"/>
            </a:avLst>
          </a:prstGeom>
          <a:solidFill>
            <a:schemeClr val="bg1"/>
          </a:solidFill>
          <a:ln w="12700">
            <a:solidFill>
              <a:srgbClr val="CFD9D6"/>
            </a:solidFill>
            <a:prstDash val="solid"/>
          </a:ln>
        </p:spPr>
      </p:sp>
      <p:sp>
        <p:nvSpPr>
          <p:cNvPr id="11" name="Text 8"/>
          <p:cNvSpPr txBox="1"/>
          <p:nvPr/>
        </p:nvSpPr>
        <p:spPr>
          <a:xfrm>
            <a:off x="5257800" y="1828800"/>
            <a:ext cx="1645920" cy="1188720"/>
          </a:xfrm>
          <a:prstGeom prst="rect">
            <a:avLst/>
          </a:prstGeom>
          <a:noFill/>
          <a:ln/>
        </p:spPr>
        <p:txBody>
          <a:bodyPr wrap="square" lIns="0" tIns="0" rIns="0" bIns="0" rtlCol="0" anchor="ctr"/>
          <a:lstStyle/>
          <a:p>
            <a:pPr algn="ctr" indent="0" marL="0">
              <a:buNone/>
            </a:pPr>
            <a:r>
              <a:rPr lang="en-US" sz="1700" b="1" dirty="0">
                <a:solidFill>
                  <a:schemeClr val="tx1"/>
                </a:solidFill>
              </a:rPr>
              <a:t>Storage tank</a:t>
            </a:r>
            <a:endParaRPr lang="en-US" sz="1700" dirty="0"/>
          </a:p>
        </p:txBody>
      </p:sp>
      <p:sp>
        <p:nvSpPr>
          <p:cNvPr id="12" name="Shape 9"/>
          <p:cNvSpPr/>
          <p:nvPr/>
        </p:nvSpPr>
        <p:spPr>
          <a:xfrm>
            <a:off x="7059168" y="2286000"/>
            <a:ext cx="347472" cy="274320"/>
          </a:xfrm>
          <a:prstGeom prst="rightArrow">
            <a:avLst/>
          </a:prstGeom>
          <a:solidFill>
            <a:schemeClr val="accent5"/>
          </a:solidFill>
          <a:ln w="12700">
            <a:solidFill>
              <a:schemeClr val="accent5"/>
            </a:solidFill>
            <a:prstDash val="solid"/>
          </a:ln>
        </p:spPr>
      </p:sp>
      <p:sp>
        <p:nvSpPr>
          <p:cNvPr id="13" name="Flow Treatment unit (new)"/>
          <p:cNvSpPr/>
          <p:nvPr/>
        </p:nvSpPr>
        <p:spPr>
          <a:xfrm>
            <a:off x="7475220" y="1828800"/>
            <a:ext cx="1828800" cy="1188720"/>
          </a:xfrm>
          <a:prstGeom prst="roundRect">
            <a:avLst>
              <a:gd name="adj" fmla="val 6154"/>
            </a:avLst>
          </a:prstGeom>
          <a:solidFill>
            <a:schemeClr val="accent1"/>
          </a:solidFill>
          <a:ln w="12700">
            <a:solidFill>
              <a:schemeClr val="accent1"/>
            </a:solidFill>
            <a:prstDash val="solid"/>
          </a:ln>
        </p:spPr>
      </p:sp>
      <p:sp>
        <p:nvSpPr>
          <p:cNvPr id="14" name="Text 11"/>
          <p:cNvSpPr txBox="1"/>
          <p:nvPr/>
        </p:nvSpPr>
        <p:spPr>
          <a:xfrm>
            <a:off x="7566660" y="1828800"/>
            <a:ext cx="1645920" cy="1188720"/>
          </a:xfrm>
          <a:prstGeom prst="rect">
            <a:avLst/>
          </a:prstGeom>
          <a:noFill/>
          <a:ln/>
        </p:spPr>
        <p:txBody>
          <a:bodyPr wrap="square" lIns="0" tIns="0" rIns="0" bIns="0" rtlCol="0" anchor="ctr"/>
          <a:lstStyle/>
          <a:p>
            <a:pPr algn="ctr" indent="0" marL="0">
              <a:buNone/>
            </a:pPr>
            <a:r>
              <a:rPr lang="en-US" sz="1700" b="1" dirty="0">
                <a:solidFill>
                  <a:schemeClr val="bg1"/>
                </a:solidFill>
              </a:rPr>
              <a:t>Treatment unit (new)</a:t>
            </a:r>
            <a:endParaRPr lang="en-US" sz="1700" dirty="0"/>
          </a:p>
        </p:txBody>
      </p:sp>
      <p:sp>
        <p:nvSpPr>
          <p:cNvPr id="15" name="Shape 12"/>
          <p:cNvSpPr/>
          <p:nvPr/>
        </p:nvSpPr>
        <p:spPr>
          <a:xfrm>
            <a:off x="9368028" y="2286000"/>
            <a:ext cx="347472" cy="274320"/>
          </a:xfrm>
          <a:prstGeom prst="rightArrow">
            <a:avLst/>
          </a:prstGeom>
          <a:solidFill>
            <a:schemeClr val="accent5"/>
          </a:solidFill>
          <a:ln w="12700">
            <a:solidFill>
              <a:schemeClr val="accent5"/>
            </a:solidFill>
            <a:prstDash val="solid"/>
          </a:ln>
        </p:spPr>
      </p:sp>
      <p:sp>
        <p:nvSpPr>
          <p:cNvPr id="16" name="Flow Taps"/>
          <p:cNvSpPr/>
          <p:nvPr/>
        </p:nvSpPr>
        <p:spPr>
          <a:xfrm>
            <a:off x="9784080" y="1828800"/>
            <a:ext cx="1828800" cy="1188720"/>
          </a:xfrm>
          <a:prstGeom prst="roundRect">
            <a:avLst>
              <a:gd name="adj" fmla="val 6154"/>
            </a:avLst>
          </a:prstGeom>
          <a:solidFill>
            <a:schemeClr val="bg1"/>
          </a:solidFill>
          <a:ln w="12700">
            <a:solidFill>
              <a:srgbClr val="CFD9D6"/>
            </a:solidFill>
            <a:prstDash val="solid"/>
          </a:ln>
        </p:spPr>
      </p:sp>
      <p:sp>
        <p:nvSpPr>
          <p:cNvPr id="17" name="Text 14"/>
          <p:cNvSpPr txBox="1"/>
          <p:nvPr/>
        </p:nvSpPr>
        <p:spPr>
          <a:xfrm>
            <a:off x="9875520" y="1828800"/>
            <a:ext cx="1645920" cy="1188720"/>
          </a:xfrm>
          <a:prstGeom prst="rect">
            <a:avLst/>
          </a:prstGeom>
          <a:noFill/>
          <a:ln/>
        </p:spPr>
        <p:txBody>
          <a:bodyPr wrap="square" lIns="0" tIns="0" rIns="0" bIns="0" rtlCol="0" anchor="ctr"/>
          <a:lstStyle/>
          <a:p>
            <a:pPr algn="ctr" indent="0" marL="0">
              <a:buNone/>
            </a:pPr>
            <a:r>
              <a:rPr lang="en-US" sz="1700" b="1" dirty="0">
                <a:solidFill>
                  <a:schemeClr val="tx1"/>
                </a:solidFill>
              </a:rPr>
              <a:t>Taps</a:t>
            </a:r>
            <a:endParaRPr lang="en-US" sz="1700" dirty="0"/>
          </a:p>
        </p:txBody>
      </p:sp>
      <p:sp>
        <p:nvSpPr>
          <p:cNvPr id="18" name="Fit note 1"/>
          <p:cNvSpPr/>
          <p:nvPr/>
        </p:nvSpPr>
        <p:spPr>
          <a:xfrm>
            <a:off x="548640" y="3657600"/>
            <a:ext cx="3566160" cy="2011680"/>
          </a:xfrm>
          <a:prstGeom prst="roundRect">
            <a:avLst>
              <a:gd name="adj" fmla="val 3636"/>
            </a:avLst>
          </a:prstGeom>
          <a:solidFill>
            <a:schemeClr val="bg1"/>
          </a:solidFill>
          <a:ln w="12700">
            <a:solidFill>
              <a:srgbClr val="CFD9D6"/>
            </a:solidFill>
            <a:prstDash val="solid"/>
          </a:ln>
        </p:spPr>
      </p:sp>
      <p:sp>
        <p:nvSpPr>
          <p:cNvPr id="19" name="Text 16"/>
          <p:cNvSpPr txBox="1"/>
          <p:nvPr/>
        </p:nvSpPr>
        <p:spPr>
          <a:xfrm>
            <a:off x="822960" y="3886200"/>
            <a:ext cx="3017520" cy="164592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Already there</a:t>
            </a:r>
            <a:endParaRPr lang="en-US" sz="1400" dirty="0"/>
          </a:p>
          <a:p>
            <a:pPr indent="0" marL="0">
              <a:buNone/>
            </a:pPr>
            <a:r>
              <a:rPr lang="en-US" sz="1600" dirty="0">
                <a:solidFill>
                  <a:schemeClr val="tx1"/>
                </a:solidFill>
              </a:rPr>
              <a:t>The borehole pump and storage tank</a:t>
            </a:r>
            <a:endParaRPr lang="en-US" sz="1400" dirty="0"/>
          </a:p>
        </p:txBody>
      </p:sp>
      <p:sp>
        <p:nvSpPr>
          <p:cNvPr id="20" name="Fit note 2"/>
          <p:cNvSpPr/>
          <p:nvPr/>
        </p:nvSpPr>
        <p:spPr>
          <a:xfrm>
            <a:off x="4297680" y="3657600"/>
            <a:ext cx="3566160" cy="2011680"/>
          </a:xfrm>
          <a:prstGeom prst="roundRect">
            <a:avLst>
              <a:gd name="adj" fmla="val 3636"/>
            </a:avLst>
          </a:prstGeom>
          <a:solidFill>
            <a:schemeClr val="bg1"/>
          </a:solidFill>
          <a:ln w="12700">
            <a:solidFill>
              <a:srgbClr val="CFD9D6"/>
            </a:solidFill>
            <a:prstDash val="solid"/>
          </a:ln>
        </p:spPr>
      </p:sp>
      <p:sp>
        <p:nvSpPr>
          <p:cNvPr id="21" name="Text 18"/>
          <p:cNvSpPr txBox="1"/>
          <p:nvPr/>
        </p:nvSpPr>
        <p:spPr>
          <a:xfrm>
            <a:off x="4572000" y="3886200"/>
            <a:ext cx="3017520" cy="164592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Our plan</a:t>
            </a:r>
            <a:endParaRPr lang="en-US" sz="1400" dirty="0"/>
          </a:p>
          <a:p>
            <a:pPr indent="0" marL="0">
              <a:buNone/>
            </a:pPr>
            <a:r>
              <a:rPr lang="en-US" sz="1600" dirty="0">
                <a:solidFill>
                  <a:schemeClr val="tx1"/>
                </a:solidFill>
              </a:rPr>
              <a:t>Add the treatment unit after the storage tank</a:t>
            </a:r>
            <a:endParaRPr lang="en-US" sz="1400" dirty="0"/>
          </a:p>
        </p:txBody>
      </p:sp>
      <p:sp>
        <p:nvSpPr>
          <p:cNvPr id="22" name="Fit note 3"/>
          <p:cNvSpPr/>
          <p:nvPr/>
        </p:nvSpPr>
        <p:spPr>
          <a:xfrm>
            <a:off x="8046720" y="3657600"/>
            <a:ext cx="3566160" cy="2011680"/>
          </a:xfrm>
          <a:prstGeom prst="roundRect">
            <a:avLst>
              <a:gd name="adj" fmla="val 3636"/>
            </a:avLst>
          </a:prstGeom>
          <a:solidFill>
            <a:schemeClr val="bg1"/>
          </a:solidFill>
          <a:ln w="12700">
            <a:solidFill>
              <a:srgbClr val="CFD9D6"/>
            </a:solidFill>
            <a:prstDash val="solid"/>
          </a:ln>
        </p:spPr>
      </p:sp>
      <p:sp>
        <p:nvSpPr>
          <p:cNvPr id="23" name="Text 20"/>
          <p:cNvSpPr txBox="1"/>
          <p:nvPr/>
        </p:nvSpPr>
        <p:spPr>
          <a:xfrm>
            <a:off x="8321040" y="3886200"/>
            <a:ext cx="3017520" cy="164592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Funding</a:t>
            </a:r>
            <a:endParaRPr lang="en-US" sz="1400" dirty="0"/>
          </a:p>
          <a:p>
            <a:pPr indent="0" marL="0">
              <a:buNone/>
            </a:pPr>
            <a:r>
              <a:rPr lang="en-US" sz="1600" dirty="0">
                <a:solidFill>
                  <a:schemeClr val="tx1"/>
                </a:solidFill>
              </a:rPr>
              <a:t>We plan to seek funding to build and install it</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CAD design of the treatment unit</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417320"/>
            <a:ext cx="7315200" cy="4572000"/>
          </a:xfrm>
          <a:prstGeom prst="rect">
            <a:avLst/>
          </a:prstGeom>
        </p:spPr>
      </p:pic>
      <p:sp>
        <p:nvSpPr>
          <p:cNvPr id="5" name="Text 1"/>
          <p:cNvSpPr txBox="1"/>
          <p:nvPr/>
        </p:nvSpPr>
        <p:spPr>
          <a:xfrm>
            <a:off x="8229600" y="1463040"/>
            <a:ext cx="338328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Stepped cascade: each stage sits lower than the last, so water flows by gravity</a:t>
            </a:r>
            <a:endParaRPr lang="en-US" sz="1500" dirty="0"/>
          </a:p>
          <a:p>
            <a:pPr marL="342900" indent="-342900">
              <a:spcAft>
                <a:spcPts val="800"/>
              </a:spcAft>
              <a:buSzPct val="100000"/>
              <a:buChar char="•"/>
            </a:pPr>
            <a:r>
              <a:rPr lang="en-US" sz="1500" dirty="0">
                <a:solidFill>
                  <a:schemeClr val="tx1"/>
                </a:solidFill>
              </a:rPr>
              <a:t>Blue settling drum on a raised stand</a:t>
            </a:r>
            <a:endParaRPr lang="en-US" sz="1500" dirty="0"/>
          </a:p>
          <a:p>
            <a:pPr marL="342900" indent="-342900">
              <a:spcAft>
                <a:spcPts val="800"/>
              </a:spcAft>
              <a:buSzPct val="100000"/>
              <a:buChar char="•"/>
            </a:pPr>
            <a:r>
              <a:rPr lang="en-US" sz="1500" dirty="0">
                <a:solidFill>
                  <a:schemeClr val="tx1"/>
                </a:solidFill>
              </a:rPr>
              <a:t>Three columns: limestone (white), sand and gravel (tan), activated carbon (black)</a:t>
            </a:r>
            <a:endParaRPr lang="en-US" sz="1500" dirty="0"/>
          </a:p>
          <a:p>
            <a:pPr marL="342900" indent="-342900">
              <a:buSzPct val="100000"/>
              <a:buChar char="•"/>
            </a:pPr>
            <a:r>
              <a:rPr lang="en-US" sz="1500" dirty="0">
                <a:solidFill>
                  <a:schemeClr val="tx1"/>
                </a:solidFill>
              </a:rPr>
              <a:t>Chlorine unit (orange) and covered storage tank</a:t>
            </a:r>
            <a:endParaRPr lang="en-US" sz="1500" dirty="0"/>
          </a:p>
        </p:txBody>
      </p:sp>
      <p:sp>
        <p:nvSpPr>
          <p:cNvPr id="6" name="Text 2"/>
          <p:cNvSpPr txBox="1"/>
          <p:nvPr/>
        </p:nvSpPr>
        <p:spPr>
          <a:xfrm>
            <a:off x="8229600" y="5120640"/>
            <a:ext cx="3383280" cy="822960"/>
          </a:xfrm>
          <a:prstGeom prst="rect">
            <a:avLst/>
          </a:prstGeom>
          <a:noFill/>
          <a:ln/>
        </p:spPr>
        <p:txBody>
          <a:bodyPr wrap="square" lIns="0" tIns="0" rIns="0" bIns="0" rtlCol="0" anchor="t"/>
          <a:lstStyle/>
          <a:p>
            <a:pPr indent="0" marL="0">
              <a:buNone/>
            </a:pPr>
            <a:r>
              <a:rPr lang="en-US" sz="1200" dirty="0">
                <a:solidFill>
                  <a:schemeClr val="accent5"/>
                </a:solidFill>
              </a:rPr>
              <a:t>Drum and tank sizes are assumed (about 200 L each) until confirmed.</a:t>
            </a:r>
            <a:endParaRPr lang="en-US" sz="12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Design specifications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3474720"/>
                <a:gridCol w="7589520"/>
              </a:tblGrid>
              <a:tr h="512064">
                <a:tc>
                  <a:txBody>
                    <a:bodyPr/>
                    <a:lstStyle/>
                    <a:p>
                      <a:pPr indent="0" marL="0">
                        <a:buNone/>
                      </a:pPr>
                      <a:r>
                        <a:rPr lang="en-US" sz="1400" b="1" dirty="0">
                          <a:solidFill>
                            <a:schemeClr val="bg1"/>
                          </a:solidFill>
                        </a:rPr>
                        <a:t>Item</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Specification</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tx1"/>
                          </a:solidFill>
                        </a:rPr>
                        <a:t>Flow rate</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About 20 L/h, gravity-fed with no electricity</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Daily output</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About 160 L in an 8-hour day, enough for around 40 people</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Treatment columns</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Three 4-inch PVC columns, 1 m each (limestone, sand and gravel, activated carbon)</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Settling drum and storage tank</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About 200 L each (assumed sizes, to be confirmed)</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Disinfection</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Chlorine dosing before the covered storage tank, which has a tap</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Monitoring</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pH, turbidity and a microbial test</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Estimated cost</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About ₦150,000 to ₦350,000</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Simulation: how the water gets cleaner</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417320"/>
            <a:ext cx="7315200" cy="4114800"/>
          </a:xfrm>
          <a:prstGeom prst="rect">
            <a:avLst/>
          </a:prstGeom>
        </p:spPr>
      </p:pic>
      <p:sp>
        <p:nvSpPr>
          <p:cNvPr id="5" name="Change 1"/>
          <p:cNvSpPr/>
          <p:nvPr/>
        </p:nvSpPr>
        <p:spPr>
          <a:xfrm>
            <a:off x="8229600" y="1417320"/>
            <a:ext cx="3383280" cy="896112"/>
          </a:xfrm>
          <a:prstGeom prst="roundRect">
            <a:avLst>
              <a:gd name="adj" fmla="val 8163"/>
            </a:avLst>
          </a:prstGeom>
          <a:solidFill>
            <a:schemeClr val="bg1"/>
          </a:solidFill>
          <a:ln w="12700">
            <a:solidFill>
              <a:srgbClr val="CFD9D6"/>
            </a:solidFill>
            <a:prstDash val="solid"/>
          </a:ln>
        </p:spPr>
      </p:sp>
      <p:sp>
        <p:nvSpPr>
          <p:cNvPr id="6" name="Text 2"/>
          <p:cNvSpPr txBox="1"/>
          <p:nvPr/>
        </p:nvSpPr>
        <p:spPr>
          <a:xfrm>
            <a:off x="8412480" y="1417320"/>
            <a:ext cx="3108960" cy="896112"/>
          </a:xfrm>
          <a:prstGeom prst="rect">
            <a:avLst/>
          </a:prstGeom>
          <a:noFill/>
          <a:ln/>
        </p:spPr>
        <p:txBody>
          <a:bodyPr wrap="square" lIns="0" tIns="0" rIns="0" bIns="0" rtlCol="0" anchor="ctr"/>
          <a:lstStyle/>
          <a:p>
            <a:pPr indent="0" marL="0">
              <a:buNone/>
            </a:pPr>
            <a:r>
              <a:rPr lang="en-US" sz="1600" b="1" dirty="0">
                <a:solidFill>
                  <a:schemeClr val="tx1"/>
                </a:solidFill>
              </a:rPr>
              <a:t>pH:  4.7 to 6.8</a:t>
            </a:r>
            <a:endParaRPr lang="en-US" sz="1400" dirty="0"/>
          </a:p>
          <a:p>
            <a:pPr indent="0" marL="0">
              <a:buNone/>
            </a:pPr>
            <a:r>
              <a:rPr lang="en-US" sz="1200" dirty="0">
                <a:solidFill>
                  <a:schemeClr val="accent5"/>
                </a:solidFill>
              </a:rPr>
              <a:t>after the limestone column</a:t>
            </a:r>
            <a:endParaRPr lang="en-US" sz="1400" dirty="0"/>
          </a:p>
        </p:txBody>
      </p:sp>
      <p:sp>
        <p:nvSpPr>
          <p:cNvPr id="7" name="Change 2"/>
          <p:cNvSpPr/>
          <p:nvPr/>
        </p:nvSpPr>
        <p:spPr>
          <a:xfrm>
            <a:off x="8229600" y="2468880"/>
            <a:ext cx="3383280" cy="896112"/>
          </a:xfrm>
          <a:prstGeom prst="roundRect">
            <a:avLst>
              <a:gd name="adj" fmla="val 8163"/>
            </a:avLst>
          </a:prstGeom>
          <a:solidFill>
            <a:schemeClr val="bg1"/>
          </a:solidFill>
          <a:ln w="12700">
            <a:solidFill>
              <a:srgbClr val="CFD9D6"/>
            </a:solidFill>
            <a:prstDash val="solid"/>
          </a:ln>
        </p:spPr>
      </p:sp>
      <p:sp>
        <p:nvSpPr>
          <p:cNvPr id="8" name="Text 4"/>
          <p:cNvSpPr txBox="1"/>
          <p:nvPr/>
        </p:nvSpPr>
        <p:spPr>
          <a:xfrm>
            <a:off x="8412480" y="2468880"/>
            <a:ext cx="3108960" cy="896112"/>
          </a:xfrm>
          <a:prstGeom prst="rect">
            <a:avLst/>
          </a:prstGeom>
          <a:noFill/>
          <a:ln/>
        </p:spPr>
        <p:txBody>
          <a:bodyPr wrap="square" lIns="0" tIns="0" rIns="0" bIns="0" rtlCol="0" anchor="ctr"/>
          <a:lstStyle/>
          <a:p>
            <a:pPr indent="0" marL="0">
              <a:buNone/>
            </a:pPr>
            <a:r>
              <a:rPr lang="en-US" sz="1600" b="1" dirty="0">
                <a:solidFill>
                  <a:schemeClr val="tx1"/>
                </a:solidFill>
              </a:rPr>
              <a:t>Turbidity:  25 to 1.9 NTU</a:t>
            </a:r>
            <a:endParaRPr lang="en-US" sz="1400" dirty="0"/>
          </a:p>
          <a:p>
            <a:pPr indent="0" marL="0">
              <a:buNone/>
            </a:pPr>
            <a:r>
              <a:rPr lang="en-US" sz="1200" dirty="0">
                <a:solidFill>
                  <a:schemeClr val="accent5"/>
                </a:solidFill>
              </a:rPr>
              <a:t>settling, sand and carbon</a:t>
            </a:r>
            <a:endParaRPr lang="en-US" sz="1400" dirty="0"/>
          </a:p>
        </p:txBody>
      </p:sp>
      <p:sp>
        <p:nvSpPr>
          <p:cNvPr id="9" name="Change 3"/>
          <p:cNvSpPr/>
          <p:nvPr/>
        </p:nvSpPr>
        <p:spPr>
          <a:xfrm>
            <a:off x="8229600" y="3520440"/>
            <a:ext cx="3383280" cy="896112"/>
          </a:xfrm>
          <a:prstGeom prst="roundRect">
            <a:avLst>
              <a:gd name="adj" fmla="val 8163"/>
            </a:avLst>
          </a:prstGeom>
          <a:solidFill>
            <a:schemeClr val="bg1"/>
          </a:solidFill>
          <a:ln w="12700">
            <a:solidFill>
              <a:srgbClr val="CFD9D6"/>
            </a:solidFill>
            <a:prstDash val="solid"/>
          </a:ln>
        </p:spPr>
      </p:sp>
      <p:sp>
        <p:nvSpPr>
          <p:cNvPr id="10" name="Text 6"/>
          <p:cNvSpPr txBox="1"/>
          <p:nvPr/>
        </p:nvSpPr>
        <p:spPr>
          <a:xfrm>
            <a:off x="8412480" y="3520440"/>
            <a:ext cx="3108960" cy="896112"/>
          </a:xfrm>
          <a:prstGeom prst="rect">
            <a:avLst/>
          </a:prstGeom>
          <a:noFill/>
          <a:ln/>
        </p:spPr>
        <p:txBody>
          <a:bodyPr wrap="square" lIns="0" tIns="0" rIns="0" bIns="0" rtlCol="0" anchor="ctr"/>
          <a:lstStyle/>
          <a:p>
            <a:pPr indent="0" marL="0">
              <a:buNone/>
            </a:pPr>
            <a:r>
              <a:rPr lang="en-US" sz="1600" b="1" dirty="0">
                <a:solidFill>
                  <a:schemeClr val="tx1"/>
                </a:solidFill>
              </a:rPr>
              <a:t>Lead:  0.046 to 0.009 mg/L</a:t>
            </a:r>
            <a:endParaRPr lang="en-US" sz="1400" dirty="0"/>
          </a:p>
          <a:p>
            <a:pPr indent="0" marL="0">
              <a:buNone/>
            </a:pPr>
            <a:r>
              <a:rPr lang="en-US" sz="1200" dirty="0">
                <a:solidFill>
                  <a:schemeClr val="accent5"/>
                </a:solidFill>
              </a:rPr>
              <a:t>carbon, 70% removal assumed</a:t>
            </a:r>
            <a:endParaRPr lang="en-US" sz="1400" dirty="0"/>
          </a:p>
        </p:txBody>
      </p:sp>
      <p:sp>
        <p:nvSpPr>
          <p:cNvPr id="11" name="Change 4"/>
          <p:cNvSpPr/>
          <p:nvPr/>
        </p:nvSpPr>
        <p:spPr>
          <a:xfrm>
            <a:off x="8229600" y="4572000"/>
            <a:ext cx="3383280" cy="896112"/>
          </a:xfrm>
          <a:prstGeom prst="roundRect">
            <a:avLst>
              <a:gd name="adj" fmla="val 8163"/>
            </a:avLst>
          </a:prstGeom>
          <a:solidFill>
            <a:schemeClr val="bg1"/>
          </a:solidFill>
          <a:ln w="12700">
            <a:solidFill>
              <a:srgbClr val="CFD9D6"/>
            </a:solidFill>
            <a:prstDash val="solid"/>
          </a:ln>
        </p:spPr>
      </p:sp>
      <p:sp>
        <p:nvSpPr>
          <p:cNvPr id="12" name="Text 8"/>
          <p:cNvSpPr txBox="1"/>
          <p:nvPr/>
        </p:nvSpPr>
        <p:spPr>
          <a:xfrm>
            <a:off x="8412480" y="4572000"/>
            <a:ext cx="3108960" cy="896112"/>
          </a:xfrm>
          <a:prstGeom prst="rect">
            <a:avLst/>
          </a:prstGeom>
          <a:noFill/>
          <a:ln/>
        </p:spPr>
        <p:txBody>
          <a:bodyPr wrap="square" lIns="0" tIns="0" rIns="0" bIns="0" rtlCol="0" anchor="ctr"/>
          <a:lstStyle/>
          <a:p>
            <a:pPr indent="0" marL="0">
              <a:buNone/>
            </a:pPr>
            <a:r>
              <a:rPr lang="en-US" sz="1600" b="1" dirty="0">
                <a:solidFill>
                  <a:schemeClr val="tx1"/>
                </a:solidFill>
              </a:rPr>
              <a:t>Coliform:  50 to 0 per 100 mL</a:t>
            </a:r>
            <a:endParaRPr lang="en-US" sz="1400" dirty="0"/>
          </a:p>
          <a:p>
            <a:pPr indent="0" marL="0">
              <a:buNone/>
            </a:pPr>
            <a:r>
              <a:rPr lang="en-US" sz="1200" dirty="0">
                <a:solidFill>
                  <a:schemeClr val="accent5"/>
                </a:solidFill>
              </a:rPr>
              <a:t>after chlorine</a:t>
            </a:r>
            <a:endParaRPr lang="en-US" sz="1400" dirty="0"/>
          </a:p>
        </p:txBody>
      </p:sp>
      <p:sp>
        <p:nvSpPr>
          <p:cNvPr id="13" name="Text 9"/>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300" dirty="0">
                <a:solidFill>
                  <a:schemeClr val="accent5"/>
                </a:solidFill>
              </a:rPr>
              <a:t>Illustrative simulation using assumed removal rates. Lab tests will confirm real performance.</a:t>
            </a:r>
            <a:endParaRPr lang="en-US" sz="13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Risks and how we manage them</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3931920"/>
                <a:gridCol w="1097280"/>
                <a:gridCol w="6035040"/>
              </a:tblGrid>
              <a:tr h="530352">
                <a:tc>
                  <a:txBody>
                    <a:bodyPr/>
                    <a:lstStyle/>
                    <a:p>
                      <a:pPr indent="0" marL="0">
                        <a:buNone/>
                      </a:pPr>
                      <a:r>
                        <a:rPr lang="en-US" sz="1400" b="1" dirty="0">
                          <a:solidFill>
                            <a:schemeClr val="bg1"/>
                          </a:solidFill>
                        </a:rPr>
                        <a:t>Risk</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Level</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How we manage it</a:t>
                      </a:r>
                      <a:endParaRPr lang="en-US" sz="14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tx2"/>
                    </a:solidFill>
                  </a:tcPr>
                </a:tc>
              </a:tr>
              <a:tr h="530352">
                <a:tc>
                  <a:txBody>
                    <a:bodyPr/>
                    <a:lstStyle/>
                    <a:p>
                      <a:pPr indent="0" marL="0">
                        <a:buNone/>
                      </a:pPr>
                      <a:r>
                        <a:rPr lang="en-US" sz="1300" b="1" dirty="0">
                          <a:solidFill>
                            <a:schemeClr val="tx1"/>
                          </a:solidFill>
                        </a:rPr>
                        <a:t>Carbon wears out and metals pass through</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High</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Lab-test the output and replace the carbon on a schedule</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r>
              <a:tr h="530352">
                <a:tc>
                  <a:txBody>
                    <a:bodyPr/>
                    <a:lstStyle/>
                    <a:p>
                      <a:pPr indent="0" marL="0">
                        <a:buNone/>
                      </a:pPr>
                      <a:r>
                        <a:rPr lang="en-US" sz="1300" b="1" dirty="0">
                          <a:solidFill>
                            <a:schemeClr val="tx1"/>
                          </a:solidFill>
                        </a:rPr>
                        <a:t>Wrong chlorine dose</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High</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Fix a measured dose and check it with a simple test kit</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r>
              <a:tr h="530352">
                <a:tc>
                  <a:txBody>
                    <a:bodyPr/>
                    <a:lstStyle/>
                    <a:p>
                      <a:pPr indent="0" marL="0">
                        <a:buNone/>
                      </a:pPr>
                      <a:r>
                        <a:rPr lang="en-US" sz="1300" b="1" dirty="0">
                          <a:solidFill>
                            <a:schemeClr val="tx1"/>
                          </a:solidFill>
                        </a:rPr>
                        <a:t>Water gets dirty again after treatment</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High</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Keep the tank covered, clean the tap, teach safe storage</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r>
              <a:tr h="530352">
                <a:tc>
                  <a:txBody>
                    <a:bodyPr/>
                    <a:lstStyle/>
                    <a:p>
                      <a:pPr indent="0" marL="0">
                        <a:buNone/>
                      </a:pPr>
                      <a:r>
                        <a:rPr lang="en-US" sz="1300" b="1" dirty="0">
                          <a:solidFill>
                            <a:schemeClr val="tx1"/>
                          </a:solidFill>
                        </a:rPr>
                        <a:t>Output not yet verified in a lab</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High</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Book lab tests for lead, nickel and coliform before use</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r>
              <a:tr h="530352">
                <a:tc>
                  <a:txBody>
                    <a:bodyPr/>
                    <a:lstStyle/>
                    <a:p>
                      <a:pPr indent="0" marL="0">
                        <a:buNone/>
                      </a:pPr>
                      <a:r>
                        <a:rPr lang="en-US" sz="1300" b="1" dirty="0">
                          <a:solidFill>
                            <a:schemeClr val="tx1"/>
                          </a:solidFill>
                        </a:rPr>
                        <a:t>Limestone is used up and pH drops</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300" b="1" dirty="0">
                          <a:solidFill>
                            <a:schemeClr val="tx2"/>
                          </a:solidFill>
                        </a:rPr>
                        <a:t>Medium</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Test pH weekly and top up the limestone</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r>
              <a:tr h="530352">
                <a:tc>
                  <a:txBody>
                    <a:bodyPr/>
                    <a:lstStyle/>
                    <a:p>
                      <a:pPr indent="0" marL="0">
                        <a:buNone/>
                      </a:pPr>
                      <a:r>
                        <a:rPr lang="en-US" sz="1300" b="1" dirty="0">
                          <a:solidFill>
                            <a:schemeClr val="tx1"/>
                          </a:solidFill>
                        </a:rPr>
                        <a:t>Filters clog or flow is weak</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rPr>
                        <a:t>Medium</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Backwash or replace the sand layer, check the drum height</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2"/>
                    </a:solidFill>
                  </a:tcPr>
                </a:tc>
              </a:tr>
              <a:tr h="530352">
                <a:tc>
                  <a:txBody>
                    <a:bodyPr/>
                    <a:lstStyle/>
                    <a:p>
                      <a:pPr indent="0" marL="0">
                        <a:buNone/>
                      </a:pPr>
                      <a:r>
                        <a:rPr lang="en-US" sz="1300" b="1" dirty="0">
                          <a:solidFill>
                            <a:schemeClr val="tx1"/>
                          </a:solidFill>
                        </a:rPr>
                        <a:t>No one owns maintenance</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300" b="1" dirty="0">
                          <a:solidFill>
                            <a:schemeClr val="tx2"/>
                          </a:solidFill>
                        </a:rPr>
                        <a:t>Medium</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Name a caretaker and set a maintenance budget</a:t>
                      </a:r>
                      <a:endParaRPr lang="en-US" sz="1300" dirty="0"/>
                    </a:p>
                  </a:txBody>
                  <a:tcPr marL="137160" marR="137160" marT="0" marB="0" anchor="ctr">
                    <a:lnL w="12700" cap="flat" cmpd="sng" algn="ctr">
                      <a:solidFill>
                        <a:srgbClr val="CFD9D6"/>
                      </a:solidFill>
                      <a:prstDash val="solid"/>
                      <a:round/>
                      <a:headEnd type="none" w="med" len="med"/>
                      <a:tailEnd type="none" w="med" len="med"/>
                    </a:lnL>
                    <a:lnR w="12700" cap="flat" cmpd="sng" algn="ctr">
                      <a:solidFill>
                        <a:srgbClr val="CFD9D6"/>
                      </a:solidFill>
                      <a:prstDash val="solid"/>
                      <a:round/>
                      <a:headEnd type="none" w="med" len="med"/>
                      <a:tailEnd type="none" w="med" len="med"/>
                    </a:lnR>
                    <a:lnT w="12700" cap="flat" cmpd="sng" algn="ctr">
                      <a:solidFill>
                        <a:srgbClr val="CFD9D6"/>
                      </a:solidFill>
                      <a:prstDash val="solid"/>
                      <a:round/>
                      <a:headEnd type="none" w="med" len="med"/>
                      <a:tailEnd type="none" w="med" len="med"/>
                    </a:lnT>
                    <a:lnB w="12700" cap="flat" cmpd="sng" algn="ctr">
                      <a:solidFill>
                        <a:srgbClr val="CFD9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Funding and implementation</a:t>
            </a:r>
            <a:endParaRPr lang="en-US" sz="3000" dirty="0"/>
          </a:p>
        </p:txBody>
      </p:sp>
      <p:sp>
        <p:nvSpPr>
          <p:cNvPr id="4" name="Budget stat"/>
          <p:cNvSpPr/>
          <p:nvPr/>
        </p:nvSpPr>
        <p:spPr>
          <a:xfrm>
            <a:off x="548640" y="1554480"/>
            <a:ext cx="4206240" cy="3291840"/>
          </a:xfrm>
          <a:prstGeom prst="roundRect">
            <a:avLst>
              <a:gd name="adj" fmla="val 2222"/>
            </a:avLst>
          </a:prstGeom>
          <a:solidFill>
            <a:schemeClr val="bg1"/>
          </a:solidFill>
          <a:ln w="12700">
            <a:solidFill>
              <a:srgbClr val="CFD9D6"/>
            </a:solidFill>
            <a:prstDash val="solid"/>
          </a:ln>
        </p:spPr>
      </p:sp>
      <p:sp>
        <p:nvSpPr>
          <p:cNvPr id="5" name="Text 2"/>
          <p:cNvSpPr txBox="1"/>
          <p:nvPr/>
        </p:nvSpPr>
        <p:spPr>
          <a:xfrm>
            <a:off x="777240" y="1737360"/>
            <a:ext cx="3749040" cy="1481328"/>
          </a:xfrm>
          <a:prstGeom prst="rect">
            <a:avLst/>
          </a:prstGeom>
          <a:noFill/>
          <a:ln/>
        </p:spPr>
        <p:txBody>
          <a:bodyPr wrap="square" lIns="0" tIns="0" rIns="0" bIns="0" rtlCol="0" anchor="ctr"/>
          <a:lstStyle/>
          <a:p>
            <a:pPr indent="0" marL="0">
              <a:buNone/>
            </a:pPr>
            <a:r>
              <a:rPr lang="en-US" sz="3000" b="1" dirty="0">
                <a:solidFill>
                  <a:schemeClr val="accent2"/>
                </a:solidFill>
              </a:rPr>
              <a:t>₦150,000 to ₦350,000</a:t>
            </a:r>
            <a:endParaRPr lang="en-US" sz="3000" dirty="0"/>
          </a:p>
        </p:txBody>
      </p:sp>
      <p:sp>
        <p:nvSpPr>
          <p:cNvPr id="6" name="Text 3"/>
          <p:cNvSpPr txBox="1"/>
          <p:nvPr/>
        </p:nvSpPr>
        <p:spPr>
          <a:xfrm>
            <a:off x="777240" y="3218688"/>
            <a:ext cx="3749040" cy="1444752"/>
          </a:xfrm>
          <a:prstGeom prst="rect">
            <a:avLst/>
          </a:prstGeom>
          <a:noFill/>
          <a:ln/>
        </p:spPr>
        <p:txBody>
          <a:bodyPr wrap="square" lIns="0" tIns="0" rIns="0" bIns="0" rtlCol="0" anchor="t"/>
          <a:lstStyle/>
          <a:p>
            <a:pPr indent="0" marL="0">
              <a:buNone/>
            </a:pPr>
            <a:r>
              <a:rPr lang="en-US" sz="1600" dirty="0">
                <a:solidFill>
                  <a:schemeClr val="tx1"/>
                </a:solidFill>
              </a:rPr>
              <a:t>Estimated build cost, to be firmed up with supplier quotes</a:t>
            </a:r>
            <a:endParaRPr lang="en-US" sz="1600" dirty="0"/>
          </a:p>
        </p:txBody>
      </p:sp>
      <p:sp>
        <p:nvSpPr>
          <p:cNvPr id="7" name="Step 1"/>
          <p:cNvSpPr/>
          <p:nvPr/>
        </p:nvSpPr>
        <p:spPr>
          <a:xfrm>
            <a:off x="5120640" y="1554480"/>
            <a:ext cx="6492240" cy="731520"/>
          </a:xfrm>
          <a:prstGeom prst="roundRect">
            <a:avLst>
              <a:gd name="adj" fmla="val 10000"/>
            </a:avLst>
          </a:prstGeom>
          <a:solidFill>
            <a:schemeClr val="bg1"/>
          </a:solidFill>
          <a:ln w="12700">
            <a:solidFill>
              <a:srgbClr val="CFD9D6"/>
            </a:solidFill>
            <a:prstDash val="solid"/>
          </a:ln>
        </p:spPr>
      </p:sp>
      <p:sp>
        <p:nvSpPr>
          <p:cNvPr id="8" name="Shape 5"/>
          <p:cNvSpPr/>
          <p:nvPr/>
        </p:nvSpPr>
        <p:spPr>
          <a:xfrm>
            <a:off x="5303520" y="169164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530352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7"/>
          <p:cNvSpPr txBox="1"/>
          <p:nvPr/>
        </p:nvSpPr>
        <p:spPr>
          <a:xfrm>
            <a:off x="5943600" y="1554480"/>
            <a:ext cx="5486400" cy="731520"/>
          </a:xfrm>
          <a:prstGeom prst="rect">
            <a:avLst/>
          </a:prstGeom>
          <a:noFill/>
          <a:ln/>
        </p:spPr>
        <p:txBody>
          <a:bodyPr wrap="square" lIns="0" tIns="0" rIns="0" bIns="0" rtlCol="0" anchor="ctr"/>
          <a:lstStyle/>
          <a:p>
            <a:pPr indent="0" marL="0">
              <a:buNone/>
            </a:pPr>
            <a:r>
              <a:rPr lang="en-US" sz="1600" dirty="0">
                <a:solidFill>
                  <a:schemeClr val="tx1"/>
                </a:solidFill>
              </a:rPr>
              <a:t>Get supplier quotes to firm up the budget</a:t>
            </a:r>
            <a:endParaRPr lang="en-US" sz="1600" dirty="0"/>
          </a:p>
        </p:txBody>
      </p:sp>
      <p:sp>
        <p:nvSpPr>
          <p:cNvPr id="11" name="Step 2"/>
          <p:cNvSpPr/>
          <p:nvPr/>
        </p:nvSpPr>
        <p:spPr>
          <a:xfrm>
            <a:off x="5120640" y="2423160"/>
            <a:ext cx="6492240" cy="731520"/>
          </a:xfrm>
          <a:prstGeom prst="roundRect">
            <a:avLst>
              <a:gd name="adj" fmla="val 10000"/>
            </a:avLst>
          </a:prstGeom>
          <a:solidFill>
            <a:schemeClr val="bg1"/>
          </a:solidFill>
          <a:ln w="12700">
            <a:solidFill>
              <a:srgbClr val="CFD9D6"/>
            </a:solidFill>
            <a:prstDash val="solid"/>
          </a:ln>
        </p:spPr>
      </p:sp>
      <p:sp>
        <p:nvSpPr>
          <p:cNvPr id="12" name="Shape 9"/>
          <p:cNvSpPr/>
          <p:nvPr/>
        </p:nvSpPr>
        <p:spPr>
          <a:xfrm>
            <a:off x="5303520" y="2560320"/>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530352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5943600" y="2423160"/>
            <a:ext cx="5486400" cy="731520"/>
          </a:xfrm>
          <a:prstGeom prst="rect">
            <a:avLst/>
          </a:prstGeom>
          <a:noFill/>
          <a:ln/>
        </p:spPr>
        <p:txBody>
          <a:bodyPr wrap="square" lIns="0" tIns="0" rIns="0" bIns="0" rtlCol="0" anchor="ctr"/>
          <a:lstStyle/>
          <a:p>
            <a:pPr indent="0" marL="0">
              <a:buNone/>
            </a:pPr>
            <a:r>
              <a:rPr lang="en-US" sz="1600" dirty="0">
                <a:solidFill>
                  <a:schemeClr val="tx1"/>
                </a:solidFill>
              </a:rPr>
              <a:t>Seek funding for building and installation</a:t>
            </a:r>
            <a:endParaRPr lang="en-US" sz="1600" dirty="0"/>
          </a:p>
        </p:txBody>
      </p:sp>
      <p:sp>
        <p:nvSpPr>
          <p:cNvPr id="15" name="Step 3"/>
          <p:cNvSpPr/>
          <p:nvPr/>
        </p:nvSpPr>
        <p:spPr>
          <a:xfrm>
            <a:off x="5120640" y="3291840"/>
            <a:ext cx="6492240" cy="731520"/>
          </a:xfrm>
          <a:prstGeom prst="roundRect">
            <a:avLst>
              <a:gd name="adj" fmla="val 10000"/>
            </a:avLst>
          </a:prstGeom>
          <a:solidFill>
            <a:schemeClr val="bg1"/>
          </a:solidFill>
          <a:ln w="12700">
            <a:solidFill>
              <a:srgbClr val="CFD9D6"/>
            </a:solidFill>
            <a:prstDash val="solid"/>
          </a:ln>
        </p:spPr>
      </p:sp>
      <p:sp>
        <p:nvSpPr>
          <p:cNvPr id="16" name="Shape 13"/>
          <p:cNvSpPr/>
          <p:nvPr/>
        </p:nvSpPr>
        <p:spPr>
          <a:xfrm>
            <a:off x="5303520" y="342900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5303520"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5943600" y="3291840"/>
            <a:ext cx="5486400" cy="731520"/>
          </a:xfrm>
          <a:prstGeom prst="rect">
            <a:avLst/>
          </a:prstGeom>
          <a:noFill/>
          <a:ln/>
        </p:spPr>
        <p:txBody>
          <a:bodyPr wrap="square" lIns="0" tIns="0" rIns="0" bIns="0" rtlCol="0" anchor="ctr"/>
          <a:lstStyle/>
          <a:p>
            <a:pPr indent="0" marL="0">
              <a:buNone/>
            </a:pPr>
            <a:r>
              <a:rPr lang="en-US" sz="1600" dirty="0">
                <a:solidFill>
                  <a:schemeClr val="tx1"/>
                </a:solidFill>
              </a:rPr>
              <a:t>Connect the unit to the borehole pump and storage tank system</a:t>
            </a:r>
            <a:endParaRPr lang="en-US" sz="1600" dirty="0"/>
          </a:p>
        </p:txBody>
      </p:sp>
      <p:sp>
        <p:nvSpPr>
          <p:cNvPr id="19" name="Step 4"/>
          <p:cNvSpPr/>
          <p:nvPr/>
        </p:nvSpPr>
        <p:spPr>
          <a:xfrm>
            <a:off x="5120640" y="4160520"/>
            <a:ext cx="6492240" cy="731520"/>
          </a:xfrm>
          <a:prstGeom prst="roundRect">
            <a:avLst>
              <a:gd name="adj" fmla="val 10000"/>
            </a:avLst>
          </a:prstGeom>
          <a:solidFill>
            <a:schemeClr val="bg1"/>
          </a:solidFill>
          <a:ln w="12700">
            <a:solidFill>
              <a:srgbClr val="CFD9D6"/>
            </a:solidFill>
            <a:prstDash val="solid"/>
          </a:ln>
        </p:spPr>
      </p:sp>
      <p:sp>
        <p:nvSpPr>
          <p:cNvPr id="20" name="Shape 17"/>
          <p:cNvSpPr/>
          <p:nvPr/>
        </p:nvSpPr>
        <p:spPr>
          <a:xfrm>
            <a:off x="5303520" y="4297680"/>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5303520" y="4297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5943600" y="4160520"/>
            <a:ext cx="5486400" cy="731520"/>
          </a:xfrm>
          <a:prstGeom prst="rect">
            <a:avLst/>
          </a:prstGeom>
          <a:noFill/>
          <a:ln/>
        </p:spPr>
        <p:txBody>
          <a:bodyPr wrap="square" lIns="0" tIns="0" rIns="0" bIns="0" rtlCol="0" anchor="ctr"/>
          <a:lstStyle/>
          <a:p>
            <a:pPr indent="0" marL="0">
              <a:buNone/>
            </a:pPr>
            <a:r>
              <a:rPr lang="en-US" sz="1600" dirty="0">
                <a:solidFill>
                  <a:schemeClr val="tx1"/>
                </a:solidFill>
              </a:rPr>
              <a:t>Assign a caretaker and a maintenance budget</a:t>
            </a:r>
            <a:endParaRPr lang="en-US" sz="1600" dirty="0"/>
          </a:p>
        </p:txBody>
      </p:sp>
      <p:sp>
        <p:nvSpPr>
          <p:cNvPr id="23" name="Text 20"/>
          <p:cNvSpPr txBox="1"/>
          <p:nvPr/>
        </p:nvSpPr>
        <p:spPr>
          <a:xfrm>
            <a:off x="548640" y="5394960"/>
            <a:ext cx="11064240" cy="365760"/>
          </a:xfrm>
          <a:prstGeom prst="rect">
            <a:avLst/>
          </a:prstGeom>
          <a:noFill/>
          <a:ln/>
        </p:spPr>
        <p:txBody>
          <a:bodyPr wrap="square" lIns="0" tIns="0" rIns="0" bIns="0" rtlCol="0" anchor="t"/>
          <a:lstStyle/>
          <a:p>
            <a:pPr indent="0" marL="0">
              <a:buNone/>
            </a:pPr>
            <a:r>
              <a:rPr lang="en-US" sz="1300" dirty="0">
                <a:solidFill>
                  <a:schemeClr val="accent5"/>
                </a:solidFill>
              </a:rPr>
              <a:t>Full detail is in our implementation and funding report.</a:t>
            </a:r>
            <a:endParaRPr lang="en-US" sz="13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Next steps</a:t>
            </a:r>
            <a:endParaRPr lang="en-US" sz="3000" dirty="0"/>
          </a:p>
        </p:txBody>
      </p:sp>
      <p:sp>
        <p:nvSpPr>
          <p:cNvPr id="4" name="Next 1"/>
          <p:cNvSpPr/>
          <p:nvPr/>
        </p:nvSpPr>
        <p:spPr>
          <a:xfrm>
            <a:off x="548640" y="1554480"/>
            <a:ext cx="2057400" cy="3017520"/>
          </a:xfrm>
          <a:prstGeom prst="roundRect">
            <a:avLst>
              <a:gd name="adj" fmla="val 3556"/>
            </a:avLst>
          </a:prstGeom>
          <a:solidFill>
            <a:schemeClr val="bg1"/>
          </a:solidFill>
          <a:ln w="12700">
            <a:solidFill>
              <a:srgbClr val="CFD9D6"/>
            </a:solidFill>
            <a:prstDash val="solid"/>
          </a:ln>
        </p:spPr>
      </p:sp>
      <p:sp>
        <p:nvSpPr>
          <p:cNvPr id="5" name="Text 2"/>
          <p:cNvSpPr txBox="1"/>
          <p:nvPr/>
        </p:nvSpPr>
        <p:spPr>
          <a:xfrm>
            <a:off x="731520" y="1691640"/>
            <a:ext cx="1737360" cy="640080"/>
          </a:xfrm>
          <a:prstGeom prst="rect">
            <a:avLst/>
          </a:prstGeom>
          <a:noFill/>
          <a:ln/>
        </p:spPr>
        <p:txBody>
          <a:bodyPr wrap="square" lIns="0" tIns="0" rIns="0" bIns="0" rtlCol="0" anchor="t"/>
          <a:lstStyle/>
          <a:p>
            <a:pPr indent="0" marL="0">
              <a:buNone/>
            </a:pPr>
            <a:r>
              <a:rPr lang="en-US" sz="3400" b="1" dirty="0">
                <a:solidFill>
                  <a:schemeClr val="accent1"/>
                </a:solidFill>
              </a:rPr>
              <a:t>1</a:t>
            </a:r>
            <a:endParaRPr lang="en-US" sz="3400" dirty="0"/>
          </a:p>
        </p:txBody>
      </p:sp>
      <p:sp>
        <p:nvSpPr>
          <p:cNvPr id="6" name="Text 3"/>
          <p:cNvSpPr txBox="1"/>
          <p:nvPr/>
        </p:nvSpPr>
        <p:spPr>
          <a:xfrm>
            <a:off x="731520" y="2423160"/>
            <a:ext cx="1737360" cy="822960"/>
          </a:xfrm>
          <a:prstGeom prst="rect">
            <a:avLst/>
          </a:prstGeom>
          <a:noFill/>
          <a:ln/>
        </p:spPr>
        <p:txBody>
          <a:bodyPr wrap="square" lIns="0" tIns="0" rIns="0" bIns="0" rtlCol="0" anchor="t"/>
          <a:lstStyle/>
          <a:p>
            <a:pPr indent="0" marL="0">
              <a:buNone/>
            </a:pPr>
            <a:r>
              <a:rPr lang="en-US" sz="1800" b="1" dirty="0">
                <a:solidFill>
                  <a:schemeClr val="tx1"/>
                </a:solidFill>
              </a:rPr>
              <a:t>Book a lab</a:t>
            </a:r>
            <a:endParaRPr lang="en-US" sz="1800" dirty="0"/>
          </a:p>
        </p:txBody>
      </p:sp>
      <p:sp>
        <p:nvSpPr>
          <p:cNvPr id="7" name="Text 4"/>
          <p:cNvSpPr txBox="1"/>
          <p:nvPr/>
        </p:nvSpPr>
        <p:spPr>
          <a:xfrm>
            <a:off x="731520" y="3291840"/>
            <a:ext cx="1737360" cy="1188720"/>
          </a:xfrm>
          <a:prstGeom prst="rect">
            <a:avLst/>
          </a:prstGeom>
          <a:noFill/>
          <a:ln/>
        </p:spPr>
        <p:txBody>
          <a:bodyPr wrap="square" lIns="0" tIns="0" rIns="0" bIns="0" rtlCol="0" anchor="t"/>
          <a:lstStyle/>
          <a:p>
            <a:pPr indent="0" marL="0">
              <a:buNone/>
            </a:pPr>
            <a:r>
              <a:rPr lang="en-US" sz="1400" dirty="0">
                <a:solidFill>
                  <a:schemeClr val="accent5"/>
                </a:solidFill>
              </a:rPr>
              <a:t>Test lead, nickel and coliform</a:t>
            </a:r>
            <a:endParaRPr lang="en-US" sz="1400" dirty="0"/>
          </a:p>
        </p:txBody>
      </p:sp>
      <p:sp>
        <p:nvSpPr>
          <p:cNvPr id="8" name="Next 2"/>
          <p:cNvSpPr/>
          <p:nvPr/>
        </p:nvSpPr>
        <p:spPr>
          <a:xfrm>
            <a:off x="2788920" y="1554480"/>
            <a:ext cx="2057400" cy="3017520"/>
          </a:xfrm>
          <a:prstGeom prst="roundRect">
            <a:avLst>
              <a:gd name="adj" fmla="val 3556"/>
            </a:avLst>
          </a:prstGeom>
          <a:solidFill>
            <a:schemeClr val="bg1"/>
          </a:solidFill>
          <a:ln w="12700">
            <a:solidFill>
              <a:srgbClr val="CFD9D6"/>
            </a:solidFill>
            <a:prstDash val="solid"/>
          </a:ln>
        </p:spPr>
      </p:sp>
      <p:sp>
        <p:nvSpPr>
          <p:cNvPr id="9" name="Text 6"/>
          <p:cNvSpPr txBox="1"/>
          <p:nvPr/>
        </p:nvSpPr>
        <p:spPr>
          <a:xfrm>
            <a:off x="2971800" y="1691640"/>
            <a:ext cx="1737360" cy="640080"/>
          </a:xfrm>
          <a:prstGeom prst="rect">
            <a:avLst/>
          </a:prstGeom>
          <a:noFill/>
          <a:ln/>
        </p:spPr>
        <p:txBody>
          <a:bodyPr wrap="square" lIns="0" tIns="0" rIns="0" bIns="0" rtlCol="0" anchor="t"/>
          <a:lstStyle/>
          <a:p>
            <a:pPr indent="0" marL="0">
              <a:buNone/>
            </a:pPr>
            <a:r>
              <a:rPr lang="en-US" sz="3400" b="1" dirty="0">
                <a:solidFill>
                  <a:schemeClr val="accent1"/>
                </a:solidFill>
              </a:rPr>
              <a:t>2</a:t>
            </a:r>
            <a:endParaRPr lang="en-US" sz="3400" dirty="0"/>
          </a:p>
        </p:txBody>
      </p:sp>
      <p:sp>
        <p:nvSpPr>
          <p:cNvPr id="10" name="Text 7"/>
          <p:cNvSpPr txBox="1"/>
          <p:nvPr/>
        </p:nvSpPr>
        <p:spPr>
          <a:xfrm>
            <a:off x="2971800" y="2423160"/>
            <a:ext cx="1737360" cy="822960"/>
          </a:xfrm>
          <a:prstGeom prst="rect">
            <a:avLst/>
          </a:prstGeom>
          <a:noFill/>
          <a:ln/>
        </p:spPr>
        <p:txBody>
          <a:bodyPr wrap="square" lIns="0" tIns="0" rIns="0" bIns="0" rtlCol="0" anchor="t"/>
          <a:lstStyle/>
          <a:p>
            <a:pPr indent="0" marL="0">
              <a:buNone/>
            </a:pPr>
            <a:r>
              <a:rPr lang="en-US" sz="1800" b="1" dirty="0">
                <a:solidFill>
                  <a:schemeClr val="tx1"/>
                </a:solidFill>
              </a:rPr>
              <a:t>Get quotes</a:t>
            </a:r>
            <a:endParaRPr lang="en-US" sz="1800" dirty="0"/>
          </a:p>
        </p:txBody>
      </p:sp>
      <p:sp>
        <p:nvSpPr>
          <p:cNvPr id="11" name="Text 8"/>
          <p:cNvSpPr txBox="1"/>
          <p:nvPr/>
        </p:nvSpPr>
        <p:spPr>
          <a:xfrm>
            <a:off x="2971800" y="3291840"/>
            <a:ext cx="1737360" cy="1188720"/>
          </a:xfrm>
          <a:prstGeom prst="rect">
            <a:avLst/>
          </a:prstGeom>
          <a:noFill/>
          <a:ln/>
        </p:spPr>
        <p:txBody>
          <a:bodyPr wrap="square" lIns="0" tIns="0" rIns="0" bIns="0" rtlCol="0" anchor="t"/>
          <a:lstStyle/>
          <a:p>
            <a:pPr indent="0" marL="0">
              <a:buNone/>
            </a:pPr>
            <a:r>
              <a:rPr lang="en-US" sz="1400" dirty="0">
                <a:solidFill>
                  <a:schemeClr val="accent5"/>
                </a:solidFill>
              </a:rPr>
              <a:t>Ask suppliers for prices</a:t>
            </a:r>
            <a:endParaRPr lang="en-US" sz="1400" dirty="0"/>
          </a:p>
        </p:txBody>
      </p:sp>
      <p:sp>
        <p:nvSpPr>
          <p:cNvPr id="12" name="Next 3"/>
          <p:cNvSpPr/>
          <p:nvPr/>
        </p:nvSpPr>
        <p:spPr>
          <a:xfrm>
            <a:off x="5029200" y="1554480"/>
            <a:ext cx="2057400" cy="3017520"/>
          </a:xfrm>
          <a:prstGeom prst="roundRect">
            <a:avLst>
              <a:gd name="adj" fmla="val 3556"/>
            </a:avLst>
          </a:prstGeom>
          <a:solidFill>
            <a:schemeClr val="bg1"/>
          </a:solidFill>
          <a:ln w="12700">
            <a:solidFill>
              <a:srgbClr val="CFD9D6"/>
            </a:solidFill>
            <a:prstDash val="solid"/>
          </a:ln>
        </p:spPr>
      </p:sp>
      <p:sp>
        <p:nvSpPr>
          <p:cNvPr id="13" name="Text 10"/>
          <p:cNvSpPr txBox="1"/>
          <p:nvPr/>
        </p:nvSpPr>
        <p:spPr>
          <a:xfrm>
            <a:off x="5212080" y="1691640"/>
            <a:ext cx="1737360" cy="640080"/>
          </a:xfrm>
          <a:prstGeom prst="rect">
            <a:avLst/>
          </a:prstGeom>
          <a:noFill/>
          <a:ln/>
        </p:spPr>
        <p:txBody>
          <a:bodyPr wrap="square" lIns="0" tIns="0" rIns="0" bIns="0" rtlCol="0" anchor="t"/>
          <a:lstStyle/>
          <a:p>
            <a:pPr indent="0" marL="0">
              <a:buNone/>
            </a:pPr>
            <a:r>
              <a:rPr lang="en-US" sz="3400" b="1" dirty="0">
                <a:solidFill>
                  <a:schemeClr val="accent1"/>
                </a:solidFill>
              </a:rPr>
              <a:t>3</a:t>
            </a:r>
            <a:endParaRPr lang="en-US" sz="3400" dirty="0"/>
          </a:p>
        </p:txBody>
      </p:sp>
      <p:sp>
        <p:nvSpPr>
          <p:cNvPr id="14" name="Text 11"/>
          <p:cNvSpPr txBox="1"/>
          <p:nvPr/>
        </p:nvSpPr>
        <p:spPr>
          <a:xfrm>
            <a:off x="5212080" y="2423160"/>
            <a:ext cx="1737360" cy="822960"/>
          </a:xfrm>
          <a:prstGeom prst="rect">
            <a:avLst/>
          </a:prstGeom>
          <a:noFill/>
          <a:ln/>
        </p:spPr>
        <p:txBody>
          <a:bodyPr wrap="square" lIns="0" tIns="0" rIns="0" bIns="0" rtlCol="0" anchor="t"/>
          <a:lstStyle/>
          <a:p>
            <a:pPr indent="0" marL="0">
              <a:buNone/>
            </a:pPr>
            <a:r>
              <a:rPr lang="en-US" sz="1800" b="1" dirty="0">
                <a:solidFill>
                  <a:schemeClr val="tx1"/>
                </a:solidFill>
              </a:rPr>
              <a:t>Finalise sizes</a:t>
            </a:r>
            <a:endParaRPr lang="en-US" sz="1800" dirty="0"/>
          </a:p>
        </p:txBody>
      </p:sp>
      <p:sp>
        <p:nvSpPr>
          <p:cNvPr id="15" name="Text 12"/>
          <p:cNvSpPr txBox="1"/>
          <p:nvPr/>
        </p:nvSpPr>
        <p:spPr>
          <a:xfrm>
            <a:off x="5212080" y="3291840"/>
            <a:ext cx="1737360" cy="1188720"/>
          </a:xfrm>
          <a:prstGeom prst="rect">
            <a:avLst/>
          </a:prstGeom>
          <a:noFill/>
          <a:ln/>
        </p:spPr>
        <p:txBody>
          <a:bodyPr wrap="square" lIns="0" tIns="0" rIns="0" bIns="0" rtlCol="0" anchor="t"/>
          <a:lstStyle/>
          <a:p>
            <a:pPr indent="0" marL="0">
              <a:buNone/>
            </a:pPr>
            <a:r>
              <a:rPr lang="en-US" sz="1400" dirty="0">
                <a:solidFill>
                  <a:schemeClr val="accent5"/>
                </a:solidFill>
              </a:rPr>
              <a:t>Confirm drum, tank and stand dimensions in CAD</a:t>
            </a:r>
            <a:endParaRPr lang="en-US" sz="1400" dirty="0"/>
          </a:p>
        </p:txBody>
      </p:sp>
      <p:sp>
        <p:nvSpPr>
          <p:cNvPr id="16" name="Next 4"/>
          <p:cNvSpPr/>
          <p:nvPr/>
        </p:nvSpPr>
        <p:spPr>
          <a:xfrm>
            <a:off x="7269480" y="1554480"/>
            <a:ext cx="2057400" cy="3017520"/>
          </a:xfrm>
          <a:prstGeom prst="roundRect">
            <a:avLst>
              <a:gd name="adj" fmla="val 3556"/>
            </a:avLst>
          </a:prstGeom>
          <a:solidFill>
            <a:schemeClr val="bg1"/>
          </a:solidFill>
          <a:ln w="12700">
            <a:solidFill>
              <a:srgbClr val="CFD9D6"/>
            </a:solidFill>
            <a:prstDash val="solid"/>
          </a:ln>
        </p:spPr>
      </p:sp>
      <p:sp>
        <p:nvSpPr>
          <p:cNvPr id="17" name="Text 14"/>
          <p:cNvSpPr txBox="1"/>
          <p:nvPr/>
        </p:nvSpPr>
        <p:spPr>
          <a:xfrm>
            <a:off x="7452360" y="1691640"/>
            <a:ext cx="1737360" cy="640080"/>
          </a:xfrm>
          <a:prstGeom prst="rect">
            <a:avLst/>
          </a:prstGeom>
          <a:noFill/>
          <a:ln/>
        </p:spPr>
        <p:txBody>
          <a:bodyPr wrap="square" lIns="0" tIns="0" rIns="0" bIns="0" rtlCol="0" anchor="t"/>
          <a:lstStyle/>
          <a:p>
            <a:pPr indent="0" marL="0">
              <a:buNone/>
            </a:pPr>
            <a:r>
              <a:rPr lang="en-US" sz="3400" b="1" dirty="0">
                <a:solidFill>
                  <a:schemeClr val="accent1"/>
                </a:solidFill>
              </a:rPr>
              <a:t>4</a:t>
            </a:r>
            <a:endParaRPr lang="en-US" sz="3400" dirty="0"/>
          </a:p>
        </p:txBody>
      </p:sp>
      <p:sp>
        <p:nvSpPr>
          <p:cNvPr id="18" name="Text 15"/>
          <p:cNvSpPr txBox="1"/>
          <p:nvPr/>
        </p:nvSpPr>
        <p:spPr>
          <a:xfrm>
            <a:off x="7452360" y="2423160"/>
            <a:ext cx="1737360" cy="822960"/>
          </a:xfrm>
          <a:prstGeom prst="rect">
            <a:avLst/>
          </a:prstGeom>
          <a:noFill/>
          <a:ln/>
        </p:spPr>
        <p:txBody>
          <a:bodyPr wrap="square" lIns="0" tIns="0" rIns="0" bIns="0" rtlCol="0" anchor="t"/>
          <a:lstStyle/>
          <a:p>
            <a:pPr indent="0" marL="0">
              <a:buNone/>
            </a:pPr>
            <a:r>
              <a:rPr lang="en-US" sz="1800" b="1" dirty="0">
                <a:solidFill>
                  <a:schemeClr val="tx1"/>
                </a:solidFill>
              </a:rPr>
              <a:t>Build the prototype</a:t>
            </a:r>
            <a:endParaRPr lang="en-US" sz="1800" dirty="0"/>
          </a:p>
        </p:txBody>
      </p:sp>
      <p:sp>
        <p:nvSpPr>
          <p:cNvPr id="19" name="Text 16"/>
          <p:cNvSpPr txBox="1"/>
          <p:nvPr/>
        </p:nvSpPr>
        <p:spPr>
          <a:xfrm>
            <a:off x="7452360" y="3291840"/>
            <a:ext cx="1737360" cy="1188720"/>
          </a:xfrm>
          <a:prstGeom prst="rect">
            <a:avLst/>
          </a:prstGeom>
          <a:noFill/>
          <a:ln/>
        </p:spPr>
        <p:txBody>
          <a:bodyPr wrap="square" lIns="0" tIns="0" rIns="0" bIns="0" rtlCol="0" anchor="t"/>
          <a:lstStyle/>
          <a:p>
            <a:pPr indent="0" marL="0">
              <a:buNone/>
            </a:pPr>
            <a:r>
              <a:rPr lang="en-US" sz="1400" dirty="0">
                <a:solidFill>
                  <a:schemeClr val="accent5"/>
                </a:solidFill>
              </a:rPr>
              <a:t>Assemble the six stages</a:t>
            </a:r>
            <a:endParaRPr lang="en-US" sz="1400" dirty="0"/>
          </a:p>
        </p:txBody>
      </p:sp>
      <p:sp>
        <p:nvSpPr>
          <p:cNvPr id="20" name="Next 5"/>
          <p:cNvSpPr/>
          <p:nvPr/>
        </p:nvSpPr>
        <p:spPr>
          <a:xfrm>
            <a:off x="9509760" y="1554480"/>
            <a:ext cx="2057400" cy="3017520"/>
          </a:xfrm>
          <a:prstGeom prst="roundRect">
            <a:avLst>
              <a:gd name="adj" fmla="val 3556"/>
            </a:avLst>
          </a:prstGeom>
          <a:solidFill>
            <a:schemeClr val="bg1"/>
          </a:solidFill>
          <a:ln w="12700">
            <a:solidFill>
              <a:srgbClr val="CFD9D6"/>
            </a:solidFill>
            <a:prstDash val="solid"/>
          </a:ln>
        </p:spPr>
      </p:sp>
      <p:sp>
        <p:nvSpPr>
          <p:cNvPr id="21" name="Text 18"/>
          <p:cNvSpPr txBox="1"/>
          <p:nvPr/>
        </p:nvSpPr>
        <p:spPr>
          <a:xfrm>
            <a:off x="9692640" y="1691640"/>
            <a:ext cx="1737360" cy="640080"/>
          </a:xfrm>
          <a:prstGeom prst="rect">
            <a:avLst/>
          </a:prstGeom>
          <a:noFill/>
          <a:ln/>
        </p:spPr>
        <p:txBody>
          <a:bodyPr wrap="square" lIns="0" tIns="0" rIns="0" bIns="0" rtlCol="0" anchor="t"/>
          <a:lstStyle/>
          <a:p>
            <a:pPr indent="0" marL="0">
              <a:buNone/>
            </a:pPr>
            <a:r>
              <a:rPr lang="en-US" sz="3400" b="1" dirty="0">
                <a:solidFill>
                  <a:schemeClr val="accent1"/>
                </a:solidFill>
              </a:rPr>
              <a:t>5</a:t>
            </a:r>
            <a:endParaRPr lang="en-US" sz="3400" dirty="0"/>
          </a:p>
        </p:txBody>
      </p:sp>
      <p:sp>
        <p:nvSpPr>
          <p:cNvPr id="22" name="Text 19"/>
          <p:cNvSpPr txBox="1"/>
          <p:nvPr/>
        </p:nvSpPr>
        <p:spPr>
          <a:xfrm>
            <a:off x="9692640" y="2423160"/>
            <a:ext cx="1737360" cy="822960"/>
          </a:xfrm>
          <a:prstGeom prst="rect">
            <a:avLst/>
          </a:prstGeom>
          <a:noFill/>
          <a:ln/>
        </p:spPr>
        <p:txBody>
          <a:bodyPr wrap="square" lIns="0" tIns="0" rIns="0" bIns="0" rtlCol="0" anchor="t"/>
          <a:lstStyle/>
          <a:p>
            <a:pPr indent="0" marL="0">
              <a:buNone/>
            </a:pPr>
            <a:r>
              <a:rPr lang="en-US" sz="1800" b="1" dirty="0">
                <a:solidFill>
                  <a:schemeClr val="tx1"/>
                </a:solidFill>
              </a:rPr>
              <a:t>Test every week</a:t>
            </a:r>
            <a:endParaRPr lang="en-US" sz="1800" dirty="0"/>
          </a:p>
        </p:txBody>
      </p:sp>
      <p:sp>
        <p:nvSpPr>
          <p:cNvPr id="23" name="Text 20"/>
          <p:cNvSpPr txBox="1"/>
          <p:nvPr/>
        </p:nvSpPr>
        <p:spPr>
          <a:xfrm>
            <a:off x="9692640" y="3291840"/>
            <a:ext cx="1737360" cy="1188720"/>
          </a:xfrm>
          <a:prstGeom prst="rect">
            <a:avLst/>
          </a:prstGeom>
          <a:noFill/>
          <a:ln/>
        </p:spPr>
        <p:txBody>
          <a:bodyPr wrap="square" lIns="0" tIns="0" rIns="0" bIns="0" rtlCol="0" anchor="t"/>
          <a:lstStyle/>
          <a:p>
            <a:pPr indent="0" marL="0">
              <a:buNone/>
            </a:pPr>
            <a:r>
              <a:rPr lang="en-US" sz="1400" dirty="0">
                <a:solidFill>
                  <a:schemeClr val="accent5"/>
                </a:solidFill>
              </a:rPr>
              <a:t>Log pH, metals and bacteria results</a:t>
            </a:r>
            <a:endParaRPr lang="en-US" sz="1400" dirty="0"/>
          </a:p>
        </p:txBody>
      </p:sp>
      <p:sp>
        <p:nvSpPr>
          <p:cNvPr id="24" name="Long-term bar"/>
          <p:cNvSpPr/>
          <p:nvPr/>
        </p:nvSpPr>
        <p:spPr>
          <a:xfrm>
            <a:off x="548640" y="4937760"/>
            <a:ext cx="11064240" cy="1005840"/>
          </a:xfrm>
          <a:prstGeom prst="roundRect">
            <a:avLst>
              <a:gd name="adj" fmla="val 7273"/>
            </a:avLst>
          </a:prstGeom>
          <a:solidFill>
            <a:schemeClr val="tx2"/>
          </a:solidFill>
          <a:ln w="12700">
            <a:solidFill>
              <a:schemeClr val="tx2"/>
            </a:solidFill>
            <a:prstDash val="solid"/>
          </a:ln>
        </p:spPr>
      </p:sp>
      <p:sp>
        <p:nvSpPr>
          <p:cNvPr id="25" name="Text 22"/>
          <p:cNvSpPr txBox="1"/>
          <p:nvPr/>
        </p:nvSpPr>
        <p:spPr>
          <a:xfrm>
            <a:off x="822960" y="4937760"/>
            <a:ext cx="10515600" cy="1005840"/>
          </a:xfrm>
          <a:prstGeom prst="rect">
            <a:avLst/>
          </a:prstGeom>
          <a:noFill/>
          <a:ln/>
        </p:spPr>
        <p:txBody>
          <a:bodyPr wrap="square" lIns="0" tIns="0" rIns="0" bIns="0" rtlCol="0" anchor="ctr"/>
          <a:lstStyle/>
          <a:p>
            <a:pPr algn="ctr" indent="0" marL="0">
              <a:buNone/>
            </a:pPr>
            <a:r>
              <a:rPr lang="en-US" sz="2000" dirty="0">
                <a:solidFill>
                  <a:schemeClr val="bg1"/>
                </a:solidFill>
              </a:rPr>
              <a:t>Long term: rehabilitate the mini water works and keep routine water testing</a:t>
            </a:r>
            <a:endParaRPr lang="en-US" sz="20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6"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Safe water for LASU Epe, with no electricity</a:t>
            </a:r>
            <a:endParaRPr lang="en-US" sz="4400" dirty="0"/>
          </a:p>
        </p:txBody>
      </p:sp>
      <p:sp>
        <p:nvSpPr>
          <p:cNvPr id="3" name="Text 6"/>
          <p:cNvSpPr/>
          <p:nvPr>
            <p:ph idx="107" type="body" hasCustomPrompt="1"/>
          </p:nvPr>
        </p:nvSpPr>
        <p:spPr>
          <a:xfrm>
            <a:off x="731520" y="3794760"/>
            <a:ext cx="10698480" cy="1371600"/>
          </a:xfrm>
          <a:prstGeom prst="rect">
            <a:avLst/>
          </a:prstGeom>
          <a:noFill/>
          <a:ln/>
        </p:spPr>
        <p:txBody>
          <a:bodyPr wrap="square" lIns="0" tIns="0" rIns="0" bIns="0" rtlCol="0" anchor="t"/>
          <a:lstStyle/>
          <a:p>
            <a:pPr algn="l" indent="0" marL="0">
              <a:buNone/>
            </a:pPr>
            <a:r>
              <a:rPr lang="en-US" sz="2800" b="1" dirty="0">
                <a:solidFill>
                  <a:schemeClr val="bg2"/>
                </a:solidFill>
              </a:rPr>
              <a:t>Questions?</a:t>
            </a:r>
            <a:endParaRPr lang="en-US" sz="2000" dirty="0"/>
          </a:p>
          <a:p>
            <a:pPr algn="l" indent="0" marL="0">
              <a:buNone/>
            </a:pPr>
            <a:r>
              <a:rPr lang="en-US" sz="2000" dirty="0">
                <a:solidFill>
                  <a:schemeClr val="bg2"/>
                </a:solidFill>
              </a:rPr>
              <a:t> </a:t>
            </a:r>
            <a:endParaRPr lang="en-US" sz="2000" dirty="0"/>
          </a:p>
          <a:p>
            <a:pPr algn="l" indent="0" marL="0">
              <a:buNone/>
            </a:pPr>
            <a:r>
              <a:rPr lang="en-US" sz="1600" dirty="0">
                <a:solidFill>
                  <a:schemeClr val="bg2"/>
                </a:solidFill>
              </a:rPr>
              <a:t>Group 9  |  NEX Research and Innovation Cohort 2026</a:t>
            </a:r>
            <a:endParaRPr lang="en-US" sz="2000" dirty="0"/>
          </a:p>
        </p:txBody>
      </p:sp>
    </p:spTree>
  </p:cSld>
  <p:clrMapOvr>
    <a:masterClrMapping/>
  </p:clrMapOvr>
</p:sld>
</file>

<file path=ppt/theme/theme1.xml><?xml version="1.0" encoding="utf-8"?>
<a:theme xmlns:a="http://schemas.openxmlformats.org/drawingml/2006/main" name="Water Unit">
  <a:themeElements>
    <a:clrScheme name="Water Unit">
      <a:dk1>
        <a:srgbClr val="10262B"/>
      </a:dk1>
      <a:lt1>
        <a:srgbClr val="FFFFFF"/>
      </a:lt1>
      <a:dk2>
        <a:srgbClr val="1F4E5A"/>
      </a:dk2>
      <a:lt2>
        <a:srgbClr val="EEF2EF"/>
      </a:lt2>
      <a:accent1>
        <a:srgbClr val="2A8FA3"/>
      </a:accent1>
      <a:accent2>
        <a:srgbClr val="B4601A"/>
      </a:accent2>
      <a:accent3>
        <a:srgbClr val="17806D"/>
      </a:accent3>
      <a:accent4>
        <a:srgbClr val="B98A3E"/>
      </a:accent4>
      <a:accent5>
        <a:srgbClr val="5B6F73"/>
      </a:accent5>
      <a:accent6>
        <a:srgbClr val="D9D4C7"/>
      </a:accent6>
      <a:hlink>
        <a:srgbClr val="2A8FA3"/>
      </a:hlink>
      <a:folHlink>
        <a:srgbClr val="5B6F73"/>
      </a:folHlink>
    </a:clrScheme>
    <a:fontScheme name="Water Uni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Low-Cost Six-Stage Water Treatment Unit</dc:title>
  <dc:subject>PptxGenJS Presentation</dc:subject>
  <dc:creator>Group 9, NEX Research and Innovation Cohort 2026</dc:creator>
  <cp:lastModifiedBy>Group 9, NEX Research and Innovation Cohort 2026</cp:lastModifiedBy>
  <cp:revision>1</cp:revision>
  <dcterms:created xsi:type="dcterms:W3CDTF">2026-10-10T11:52:24Z</dcterms:created>
  <dcterms:modified xsi:type="dcterms:W3CDTF">2026-10-10T11:52:24Z</dcterms:modified>
</cp:coreProperties>
</file>